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1" r:id="rId2"/>
    <p:sldId id="283" r:id="rId3"/>
    <p:sldId id="287" r:id="rId4"/>
    <p:sldId id="299" r:id="rId5"/>
    <p:sldId id="301" r:id="rId6"/>
    <p:sldId id="302" r:id="rId7"/>
    <p:sldId id="303" r:id="rId8"/>
    <p:sldId id="304" r:id="rId9"/>
    <p:sldId id="263" r:id="rId10"/>
    <p:sldId id="272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2F2F2"/>
    <a:srgbClr val="ADB6BE"/>
    <a:srgbClr val="FEFEFE"/>
    <a:srgbClr val="354A5E"/>
    <a:srgbClr val="E8E8E8"/>
    <a:srgbClr val="4E49EC"/>
    <a:srgbClr val="354B60"/>
    <a:srgbClr val="404040"/>
    <a:srgbClr val="21B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7265E-9A73-45E6-A8D0-D1A9070AF6CB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C55D3-C278-4098-9BA8-B75A0B9CD13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230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317B-DA7B-79D2-47CF-7A5CFB07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6BF310-9CBD-F829-BE0F-47CD9BD01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B13D93-AD55-B672-6814-ED85A2576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6FBB42-34AA-3E05-7E65-6E41CFE1F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C55D3-C278-4098-9BA8-B75A0B9CD136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628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87D2A-298E-ED90-46C3-05422371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D057748-DC6A-1E11-9FD3-FD6B10314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676AE-EFDF-F7AD-3B2B-8FCF2DA84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EE6CE3-A7EB-A61A-2C9D-537501F0D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C55D3-C278-4098-9BA8-B75A0B9CD136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8812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5A2FB-2F3B-E6F2-0B76-AEAC4816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F99E3B-69DC-CD16-689A-BC63299CC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09F7E7C-B92C-0F72-CE17-779A3C86F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114C75-5832-1101-5AA1-07F99F45E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C55D3-C278-4098-9BA8-B75A0B9CD136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8480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DE35-A223-3E37-2660-5A2C2845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988587-02A0-9DF2-C675-06DF2F14B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72EDA95-BFCC-FBBC-3C4D-19EE64625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809BC3-53A2-7451-538B-5BA5442EA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C55D3-C278-4098-9BA8-B75A0B9CD136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5156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29287-B8A0-39C2-2EBD-E733046EE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33D94F-1FB7-7090-B2C8-B540DCE25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B87061-C14B-D2E6-B9A8-DE228DF7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2B28D6-1AFF-35EF-438C-9C7056FE9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8AD650-8CF3-C3EB-7689-89B0C083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317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D7B92-5797-CA3B-B7A7-36D5BF2B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845757-676C-96C8-47C8-D10CA8B66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AF4323-8653-51C7-A131-51A6B14E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EABCA3-4F94-396F-38EC-0B51C12F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E10F9F-2558-0C4B-B306-10813992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084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F3E8B-34FB-46F5-10D0-32F7506A0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588FC-7D65-8F39-1BF8-0FA44DEB6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569AA-1A35-9D13-5DB6-A16159DE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14527-FE39-3107-1D78-89F66CE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5DB8B2-FC1B-F0B9-0030-9C21537D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3290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C0D3E-6E40-C181-D9B2-E4827B12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A48DD2-F7E1-0037-125C-B4FC93062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96EC5D-7D8A-B9BF-BDBC-E5791D832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7DDB6A-C106-1E88-4843-CF52B6DE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9303A8-7673-CAF3-9240-9F5D7DFB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CBF35B-7DB6-19B3-14C0-055D7374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903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87322-34F9-010A-218F-2A893D4F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1139AD-270C-B4BC-3359-ACD249ABC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B63541-E434-F9E8-2F16-2DE9E4316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DFEC4D-F021-8D51-CD6F-8E8E6CDB0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E92D2C-13DF-9D67-0496-9D40C0B2D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E73FB0-C549-E447-F3CC-1A307A99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008F824-1E5E-93F8-E82C-4D49875A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DFA87E-7FBE-B744-B638-0121527A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539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AAC5D-1B5F-84FE-889C-7FCE192B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6BE817-16BC-0F5E-AB7E-5B482E29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437B61-A6AB-4D76-34D9-79EE117E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7B03EE-1F56-489A-736E-13974B06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155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321CAB-F4C2-AD05-FF8C-1568AB52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A761C5-CFC7-19D6-A73F-F19215E7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240215-2A28-B3D2-93E5-FCEFE397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718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700AD-02EA-33F4-497C-F8B2D67A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BD42C8-F101-BA74-72BE-0AED2D586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643BCD-5D4F-FB19-E7B3-D67FE67F5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604BB7-5094-7CDC-BA59-A30A3D0B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5345A1-A40B-4181-E0FE-6AB03580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F5A28-6D60-DA47-B0AE-B156A362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202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7F945-BE74-7149-CC6E-F6EC76EE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B6DEAB8-25AF-FDF3-B893-380C58EE3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0577E0-C308-5510-A63C-FDA9F6AEB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99E243-4230-7EAA-4096-154754B6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124B1B-AC28-C131-1018-31983B8EC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28C4DA-8044-C266-31FB-36C531DF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989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83F6D-258E-A6AA-F424-6172CCA5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796B05-A7D0-DE3D-E5F1-17A4D58DD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D8D50E-FE85-1551-AC42-0F0BFD1F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95AE1A-2A76-D1DC-2D68-353CC5CE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E252C8-DE8E-485A-A385-A8279D51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478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0DDDC3-7965-CF19-9982-20DD4460E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09DC95-A4B9-0C41-A909-093161E14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8154BE-7C66-D007-851B-0D611D015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F277CF-F707-4843-4570-8851FD04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145C69-02D2-46EF-D921-3B88BD2F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883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71B5EE-6CD8-8629-222B-702FF5092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08AB00-FD53-3B09-4456-A207F143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DC38D5-D04D-A661-EE95-BED6B804C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8B10F-DF6F-496E-8E64-30F7EC2DBF5F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89FF55-AC87-8F47-7044-8467BBB1D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9FC133-4CC1-2D60-37F7-E0BFC1D03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F67BE-CDF7-4AD2-97A0-3DC34C5785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757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F8C0-4C8C-413B-AC91-DBB816EB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8BA8BC8-5CCA-9068-AFAE-AAE90D268466}"/>
              </a:ext>
            </a:extLst>
          </p:cNvPr>
          <p:cNvSpPr/>
          <p:nvPr/>
        </p:nvSpPr>
        <p:spPr>
          <a:xfrm>
            <a:off x="345440" y="782320"/>
            <a:ext cx="1202592" cy="5689600"/>
          </a:xfrm>
          <a:prstGeom prst="rect">
            <a:avLst/>
          </a:prstGeom>
          <a:solidFill>
            <a:srgbClr val="354B60">
              <a:alpha val="40000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2D6FFB-BD25-F198-D06F-15B04DE2DB7B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8CBDA46-1B32-F46A-A802-B5D55D225DFE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613F07-8C06-E96A-3533-A4BFE774E06D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9DF813-5857-A1FD-8BF8-2452338A73F0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925D7B-2969-6709-8CD6-1B8F825288D8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F2F2F2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EF5769-E625-6181-63D1-70EF357062BB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9DA867-4890-0FEE-9A41-2B62135CC2DD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F20FD9-24E2-149B-A409-929FCBE6A7FB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2BBA5AD-6587-AC4E-2B9C-BD406B16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7CFE6A7-5FE3-6B87-69DB-774A18644D41}"/>
              </a:ext>
            </a:extLst>
          </p:cNvPr>
          <p:cNvSpPr txBox="1"/>
          <p:nvPr/>
        </p:nvSpPr>
        <p:spPr>
          <a:xfrm>
            <a:off x="2012950" y="161295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 err="1">
                <a:solidFill>
                  <a:srgbClr val="354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</a:t>
            </a:r>
            <a:r>
              <a:rPr lang="es-PE" b="1" dirty="0">
                <a:solidFill>
                  <a:srgbClr val="354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1D7000-5BC2-A759-6440-5BB4E6C1D7B4}"/>
              </a:ext>
            </a:extLst>
          </p:cNvPr>
          <p:cNvSpPr txBox="1"/>
          <p:nvPr/>
        </p:nvSpPr>
        <p:spPr>
          <a:xfrm>
            <a:off x="264298" y="0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FILE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A1387F2-967E-06CE-34A5-398B70FA16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747782" y="923881"/>
            <a:ext cx="1974524" cy="571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A2FDD010-7630-087B-CA9C-364D820A6206}"/>
              </a:ext>
            </a:extLst>
          </p:cNvPr>
          <p:cNvCxnSpPr>
            <a:cxnSpLocks/>
          </p:cNvCxnSpPr>
          <p:nvPr/>
        </p:nvCxnSpPr>
        <p:spPr>
          <a:xfrm>
            <a:off x="1548032" y="2005781"/>
            <a:ext cx="10278208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122FA48-ABE1-CA1B-CFBE-7D8D7812E99F}"/>
              </a:ext>
            </a:extLst>
          </p:cNvPr>
          <p:cNvSpPr txBox="1"/>
          <p:nvPr/>
        </p:nvSpPr>
        <p:spPr>
          <a:xfrm>
            <a:off x="373888" y="959735"/>
            <a:ext cx="1128776" cy="2769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s-PE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C2BCA1FD-95CA-C2E1-424A-59450929FB61}"/>
              </a:ext>
            </a:extLst>
          </p:cNvPr>
          <p:cNvSpPr/>
          <p:nvPr/>
        </p:nvSpPr>
        <p:spPr>
          <a:xfrm>
            <a:off x="1553210" y="2049029"/>
            <a:ext cx="10245402" cy="4438269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236DAD5-682E-5E8E-DF4B-45350AB07DD0}"/>
              </a:ext>
            </a:extLst>
          </p:cNvPr>
          <p:cNvSpPr txBox="1"/>
          <p:nvPr/>
        </p:nvSpPr>
        <p:spPr>
          <a:xfrm>
            <a:off x="393388" y="1765429"/>
            <a:ext cx="726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E768090-510D-1BFA-8766-2966DDE9795C}"/>
              </a:ext>
            </a:extLst>
          </p:cNvPr>
          <p:cNvSpPr txBox="1"/>
          <p:nvPr/>
        </p:nvSpPr>
        <p:spPr>
          <a:xfrm>
            <a:off x="393388" y="2206295"/>
            <a:ext cx="98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 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9229FB2-40E6-4EDF-26DE-58EE80B430B5}"/>
              </a:ext>
            </a:extLst>
          </p:cNvPr>
          <p:cNvSpPr txBox="1"/>
          <p:nvPr/>
        </p:nvSpPr>
        <p:spPr>
          <a:xfrm>
            <a:off x="413347" y="2686494"/>
            <a:ext cx="98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Export</a:t>
            </a:r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28A6D41-CFF7-9347-CF03-F79B993A44B5}"/>
              </a:ext>
            </a:extLst>
          </p:cNvPr>
          <p:cNvSpPr txBox="1"/>
          <p:nvPr/>
        </p:nvSpPr>
        <p:spPr>
          <a:xfrm>
            <a:off x="414921" y="3135891"/>
            <a:ext cx="98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ADCD363-1DBF-189D-8490-C694C995E4B5}"/>
              </a:ext>
            </a:extLst>
          </p:cNvPr>
          <p:cNvSpPr txBox="1"/>
          <p:nvPr/>
        </p:nvSpPr>
        <p:spPr>
          <a:xfrm>
            <a:off x="413347" y="3607423"/>
            <a:ext cx="98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Help</a:t>
            </a:r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2E12A50-1FA2-67B9-CAE6-EC788D59CBBD}"/>
              </a:ext>
            </a:extLst>
          </p:cNvPr>
          <p:cNvSpPr txBox="1"/>
          <p:nvPr/>
        </p:nvSpPr>
        <p:spPr>
          <a:xfrm>
            <a:off x="413347" y="4087622"/>
            <a:ext cx="98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D7E294C-0F38-2196-E78B-D2C2433E658F}"/>
              </a:ext>
            </a:extLst>
          </p:cNvPr>
          <p:cNvSpPr txBox="1"/>
          <p:nvPr/>
        </p:nvSpPr>
        <p:spPr>
          <a:xfrm>
            <a:off x="441663" y="4525921"/>
            <a:ext cx="983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Explorador de archivos - Iconos gratis de control s">
            <a:extLst>
              <a:ext uri="{FF2B5EF4-FFF2-40B4-BE49-F238E27FC236}">
                <a16:creationId xmlns:a16="http://schemas.microsoft.com/office/drawing/2014/main" id="{18B53314-1CF1-1FB2-4520-D504C5CE2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918" y="1655208"/>
            <a:ext cx="303583" cy="30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ectángulo 59">
            <a:extLst>
              <a:ext uri="{FF2B5EF4-FFF2-40B4-BE49-F238E27FC236}">
                <a16:creationId xmlns:a16="http://schemas.microsoft.com/office/drawing/2014/main" id="{A62D8D8C-298E-998B-47AE-A7D9E63BC2EA}"/>
              </a:ext>
            </a:extLst>
          </p:cNvPr>
          <p:cNvSpPr/>
          <p:nvPr/>
        </p:nvSpPr>
        <p:spPr>
          <a:xfrm>
            <a:off x="1967080" y="2332906"/>
            <a:ext cx="1966995" cy="1550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CBE92A9-B902-82DE-1959-EC7F5FC39DF5}"/>
              </a:ext>
            </a:extLst>
          </p:cNvPr>
          <p:cNvSpPr/>
          <p:nvPr/>
        </p:nvSpPr>
        <p:spPr>
          <a:xfrm>
            <a:off x="4119714" y="2331154"/>
            <a:ext cx="1966995" cy="1550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037A032-6655-E26D-90FD-60CDFE818A09}"/>
              </a:ext>
            </a:extLst>
          </p:cNvPr>
          <p:cNvSpPr/>
          <p:nvPr/>
        </p:nvSpPr>
        <p:spPr>
          <a:xfrm>
            <a:off x="6272348" y="2323353"/>
            <a:ext cx="1966995" cy="1550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B0D1653-5AF4-0813-F0FC-23E2134E8BF0}"/>
              </a:ext>
            </a:extLst>
          </p:cNvPr>
          <p:cNvSpPr txBox="1"/>
          <p:nvPr/>
        </p:nvSpPr>
        <p:spPr>
          <a:xfrm>
            <a:off x="3878523" y="5049996"/>
            <a:ext cx="2057400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Proyectos recientes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FA8AA49B-065C-D54C-6030-F379ADD0EA2D}"/>
              </a:ext>
            </a:extLst>
          </p:cNvPr>
          <p:cNvCxnSpPr>
            <a:cxnSpLocks/>
          </p:cNvCxnSpPr>
          <p:nvPr/>
        </p:nvCxnSpPr>
        <p:spPr>
          <a:xfrm flipH="1" flipV="1">
            <a:off x="3514584" y="4065300"/>
            <a:ext cx="708250" cy="8161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906D350E-1BE5-E457-D0F8-31A4E903880A}"/>
              </a:ext>
            </a:extLst>
          </p:cNvPr>
          <p:cNvCxnSpPr>
            <a:cxnSpLocks/>
          </p:cNvCxnSpPr>
          <p:nvPr/>
        </p:nvCxnSpPr>
        <p:spPr>
          <a:xfrm flipV="1">
            <a:off x="4777000" y="3952730"/>
            <a:ext cx="0" cy="8161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D8024713-DA82-7F27-366E-3EC39B93D642}"/>
              </a:ext>
            </a:extLst>
          </p:cNvPr>
          <p:cNvCxnSpPr>
            <a:cxnSpLocks/>
          </p:cNvCxnSpPr>
          <p:nvPr/>
        </p:nvCxnSpPr>
        <p:spPr>
          <a:xfrm flipV="1">
            <a:off x="5614217" y="3952729"/>
            <a:ext cx="937506" cy="81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EA5A05FE-921B-4BD4-0AF6-4E2CBCFE8743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859CE3-672E-25FC-A9CA-9C6A17536748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FFD68D-E1E2-133C-08D0-281DFD1E2B27}"/>
              </a:ext>
            </a:extLst>
          </p:cNvPr>
          <p:cNvSpPr txBox="1"/>
          <p:nvPr/>
        </p:nvSpPr>
        <p:spPr>
          <a:xfrm>
            <a:off x="392338" y="1388202"/>
            <a:ext cx="100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New </a:t>
            </a:r>
            <a:r>
              <a:rPr lang="es-PE" sz="1200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62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9DA75-BE53-1276-6FE0-5DA69EFC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74494BBB-EEFE-5A27-86B7-B2888F45568E}"/>
              </a:ext>
            </a:extLst>
          </p:cNvPr>
          <p:cNvSpPr/>
          <p:nvPr/>
        </p:nvSpPr>
        <p:spPr>
          <a:xfrm>
            <a:off x="345440" y="797699"/>
            <a:ext cx="11472672" cy="39346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7B7E2F2-9753-3147-EBC8-72DEB7F2091E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E07864-BE85-D73F-6D6C-8B1A04BD8BC4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68EB99-4ACC-D1D6-D15F-93B312FA06D7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8416008-0C0E-2204-3021-D9A5AFE772D8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3957B2-8751-BA65-764F-F59C62033CFB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84B6B8-DD38-1058-F0DF-3C5D5DA209FF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D67F89-E279-21FF-7855-D0A62EA8FBA7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486E50D-0D48-F256-8D80-F61841217641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1DA7FE1-F785-BA9F-9855-407D4AD5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050C26E-C2C8-3328-44AF-2F1229D37DAB}"/>
              </a:ext>
            </a:extLst>
          </p:cNvPr>
          <p:cNvSpPr txBox="1"/>
          <p:nvPr/>
        </p:nvSpPr>
        <p:spPr>
          <a:xfrm>
            <a:off x="264298" y="0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DATA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EC7726-CC71-E373-E299-D7F7C8148657}"/>
              </a:ext>
            </a:extLst>
          </p:cNvPr>
          <p:cNvSpPr/>
          <p:nvPr/>
        </p:nvSpPr>
        <p:spPr>
          <a:xfrm>
            <a:off x="345440" y="4567217"/>
            <a:ext cx="11480800" cy="1904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2041DED-4DC6-FFA6-B729-E13AB8C91DF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30238" y="646184"/>
            <a:ext cx="144000" cy="11448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3893EED-2BA1-8B6B-E5D1-0C91738866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741" y="4770239"/>
            <a:ext cx="144000" cy="1476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5090AF3-DB40-45C0-D0AD-7AE849FD827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09674" y="2442994"/>
            <a:ext cx="7335586" cy="2124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9DF05FBC-FC35-33A1-C377-7EA92AEA343C}"/>
              </a:ext>
            </a:extLst>
          </p:cNvPr>
          <p:cNvSpPr txBox="1"/>
          <p:nvPr/>
        </p:nvSpPr>
        <p:spPr>
          <a:xfrm>
            <a:off x="4416663" y="4963594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Ventana de previsualización de data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51E7260-E515-4AAB-5053-54A1ECE1912C}"/>
              </a:ext>
            </a:extLst>
          </p:cNvPr>
          <p:cNvSpPr txBox="1"/>
          <p:nvPr/>
        </p:nvSpPr>
        <p:spPr>
          <a:xfrm>
            <a:off x="9019634" y="5119398"/>
            <a:ext cx="2057400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Barras de movimiento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6F63003-FE88-6462-EF94-9C0789656FD0}"/>
              </a:ext>
            </a:extLst>
          </p:cNvPr>
          <p:cNvCxnSpPr>
            <a:cxnSpLocks/>
          </p:cNvCxnSpPr>
          <p:nvPr/>
        </p:nvCxnSpPr>
        <p:spPr>
          <a:xfrm>
            <a:off x="10630660" y="542525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ADB84A7-ECDD-4A30-E843-EB0A38EED47B}"/>
              </a:ext>
            </a:extLst>
          </p:cNvPr>
          <p:cNvCxnSpPr>
            <a:cxnSpLocks/>
          </p:cNvCxnSpPr>
          <p:nvPr/>
        </p:nvCxnSpPr>
        <p:spPr>
          <a:xfrm flipH="1">
            <a:off x="8807488" y="5425259"/>
            <a:ext cx="876094" cy="738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B05DFAE-7C5A-1705-0614-0D74677503DF}"/>
              </a:ext>
            </a:extLst>
          </p:cNvPr>
          <p:cNvSpPr txBox="1"/>
          <p:nvPr/>
        </p:nvSpPr>
        <p:spPr>
          <a:xfrm>
            <a:off x="11574462" y="4561006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C365745-B66F-CA81-7529-40662E35EDCB}"/>
              </a:ext>
            </a:extLst>
          </p:cNvPr>
          <p:cNvSpPr/>
          <p:nvPr/>
        </p:nvSpPr>
        <p:spPr>
          <a:xfrm>
            <a:off x="11448795" y="4622673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193F879-B665-EDF7-68E1-47000B116956}"/>
              </a:ext>
            </a:extLst>
          </p:cNvPr>
          <p:cNvSpPr/>
          <p:nvPr/>
        </p:nvSpPr>
        <p:spPr>
          <a:xfrm>
            <a:off x="11469814" y="4607805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CDC7333-9C05-2681-3B92-DF5032910620}"/>
              </a:ext>
            </a:extLst>
          </p:cNvPr>
          <p:cNvSpPr txBox="1"/>
          <p:nvPr/>
        </p:nvSpPr>
        <p:spPr>
          <a:xfrm>
            <a:off x="11210832" y="4541802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-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5DCF24-472E-46F7-9B65-03DA9E4228B5}"/>
              </a:ext>
            </a:extLst>
          </p:cNvPr>
          <p:cNvSpPr txBox="1"/>
          <p:nvPr/>
        </p:nvSpPr>
        <p:spPr>
          <a:xfrm>
            <a:off x="8129882" y="4064880"/>
            <a:ext cx="2057400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Botón de minimizar, restaurar y cerrar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EE530E0F-D436-849A-3CCA-4278D9456D85}"/>
              </a:ext>
            </a:extLst>
          </p:cNvPr>
          <p:cNvCxnSpPr>
            <a:cxnSpLocks/>
          </p:cNvCxnSpPr>
          <p:nvPr/>
        </p:nvCxnSpPr>
        <p:spPr>
          <a:xfrm>
            <a:off x="10187282" y="437710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38EC7E6-E20C-9632-5975-7370722B05A9}"/>
              </a:ext>
            </a:extLst>
          </p:cNvPr>
          <p:cNvGrpSpPr/>
          <p:nvPr/>
        </p:nvGrpSpPr>
        <p:grpSpPr>
          <a:xfrm>
            <a:off x="505831" y="879985"/>
            <a:ext cx="918343" cy="246221"/>
            <a:chOff x="770757" y="889535"/>
            <a:chExt cx="918343" cy="246221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0893448-D2AB-4A45-D251-C612A95CD2CA}"/>
                </a:ext>
              </a:extLst>
            </p:cNvPr>
            <p:cNvSpPr txBox="1"/>
            <p:nvPr/>
          </p:nvSpPr>
          <p:spPr>
            <a:xfrm>
              <a:off x="889508" y="889535"/>
              <a:ext cx="7995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Load Files</a:t>
              </a:r>
            </a:p>
          </p:txBody>
        </p:sp>
        <p:pic>
          <p:nvPicPr>
            <p:cNvPr id="2050" name="Picture 2" descr="Document, File, Up, Upload Icon PNG Transparent Background, Free Download  #43253 - FreeIconsPNG">
              <a:extLst>
                <a:ext uri="{FF2B5EF4-FFF2-40B4-BE49-F238E27FC236}">
                  <a16:creationId xmlns:a16="http://schemas.microsoft.com/office/drawing/2014/main" id="{50FC6809-2DC6-0582-7D2B-520852FA9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78" b="89778" l="5778" r="93778">
                          <a14:foregroundMark x1="19111" y1="24000" x2="4444" y2="43556"/>
                          <a14:foregroundMark x1="4444" y1="43556" x2="6222" y2="70222"/>
                          <a14:foregroundMark x1="6222" y1="70222" x2="15556" y2="85333"/>
                          <a14:foregroundMark x1="93778" y1="47111" x2="84444" y2="64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757" y="915522"/>
              <a:ext cx="194246" cy="194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Office database - free Icon PNG, SVG">
            <a:extLst>
              <a:ext uri="{FF2B5EF4-FFF2-40B4-BE49-F238E27FC236}">
                <a16:creationId xmlns:a16="http://schemas.microsoft.com/office/drawing/2014/main" id="{0F84375B-1393-79E9-4A44-83AC3A15C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770" y="901235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loud icon vector image can be used for ui | Premium Vector">
            <a:extLst>
              <a:ext uri="{FF2B5EF4-FFF2-40B4-BE49-F238E27FC236}">
                <a16:creationId xmlns:a16="http://schemas.microsoft.com/office/drawing/2014/main" id="{79A9E707-32D8-43BF-C359-343D5063DC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73" t="21896" r="9147" b="27676"/>
          <a:stretch>
            <a:fillRect/>
          </a:stretch>
        </p:blipFill>
        <p:spPr bwMode="auto">
          <a:xfrm>
            <a:off x="1563745" y="916149"/>
            <a:ext cx="279142" cy="17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4F689975-5291-5114-B7C3-53BA5DC53186}"/>
              </a:ext>
            </a:extLst>
          </p:cNvPr>
          <p:cNvSpPr txBox="1"/>
          <p:nvPr/>
        </p:nvSpPr>
        <p:spPr>
          <a:xfrm>
            <a:off x="1735196" y="885257"/>
            <a:ext cx="124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/>
              <a:t>Cloud </a:t>
            </a:r>
            <a:r>
              <a:rPr lang="es-PE" sz="1000" dirty="0" err="1"/>
              <a:t>repository</a:t>
            </a:r>
            <a:endParaRPr lang="es-PE" sz="1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4B3A917-B5CC-5084-44B5-573A6334CC81}"/>
              </a:ext>
            </a:extLst>
          </p:cNvPr>
          <p:cNvSpPr txBox="1"/>
          <p:nvPr/>
        </p:nvSpPr>
        <p:spPr>
          <a:xfrm>
            <a:off x="3143250" y="879985"/>
            <a:ext cx="9622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Online server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DA33AFC-ADDE-9CE7-0BFB-F9C05D6D7E23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6846A6A-D5DC-F000-577D-8ADFF30C8643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CF83E9F-ABD1-A420-2973-C2A5A673367F}"/>
              </a:ext>
            </a:extLst>
          </p:cNvPr>
          <p:cNvCxnSpPr>
            <a:cxnSpLocks/>
          </p:cNvCxnSpPr>
          <p:nvPr/>
        </p:nvCxnSpPr>
        <p:spPr>
          <a:xfrm flipH="1" flipV="1">
            <a:off x="1100667" y="1126206"/>
            <a:ext cx="136313" cy="5189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AC0AC32-AA42-708E-652B-78BBA1250892}"/>
              </a:ext>
            </a:extLst>
          </p:cNvPr>
          <p:cNvSpPr txBox="1"/>
          <p:nvPr/>
        </p:nvSpPr>
        <p:spPr>
          <a:xfrm>
            <a:off x="431292" y="1707190"/>
            <a:ext cx="1744641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Opción de carga de archivos locales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96C40FF-BB93-DF3B-7006-EC7E99C70DD5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2261785" y="1206546"/>
            <a:ext cx="113200" cy="10842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7CD5A61-13BF-D56F-345E-FB64A81ED0CE}"/>
              </a:ext>
            </a:extLst>
          </p:cNvPr>
          <p:cNvSpPr txBox="1"/>
          <p:nvPr/>
        </p:nvSpPr>
        <p:spPr>
          <a:xfrm>
            <a:off x="1502664" y="2290783"/>
            <a:ext cx="1744641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Opción de carga de archivos en nube (</a:t>
            </a:r>
            <a:r>
              <a:rPr lang="es-PE" sz="1050" dirty="0" err="1">
                <a:solidFill>
                  <a:srgbClr val="FF0000"/>
                </a:solidFill>
              </a:rPr>
              <a:t>onedrive</a:t>
            </a:r>
            <a:r>
              <a:rPr lang="es-PE" sz="1050" dirty="0">
                <a:solidFill>
                  <a:srgbClr val="FF0000"/>
                </a:solidFill>
              </a:rPr>
              <a:t>, Google drive)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51EC989-A1BF-5FF2-0795-E29DBEA98F3F}"/>
              </a:ext>
            </a:extLst>
          </p:cNvPr>
          <p:cNvCxnSpPr>
            <a:cxnSpLocks/>
          </p:cNvCxnSpPr>
          <p:nvPr/>
        </p:nvCxnSpPr>
        <p:spPr>
          <a:xfrm flipH="1" flipV="1">
            <a:off x="3436704" y="1249731"/>
            <a:ext cx="35185" cy="395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E0A9B87-4BFF-3003-981A-D3001E1FD655}"/>
              </a:ext>
            </a:extLst>
          </p:cNvPr>
          <p:cNvSpPr txBox="1"/>
          <p:nvPr/>
        </p:nvSpPr>
        <p:spPr>
          <a:xfrm>
            <a:off x="2652691" y="1670552"/>
            <a:ext cx="1744641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Opción de carga de archivos de servidores</a:t>
            </a:r>
          </a:p>
        </p:txBody>
      </p:sp>
    </p:spTree>
    <p:extLst>
      <p:ext uri="{BB962C8B-B14F-4D97-AF65-F5344CB8AC3E}">
        <p14:creationId xmlns:p14="http://schemas.microsoft.com/office/powerpoint/2010/main" val="428133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8C5F-46E1-9640-1B27-7CD33138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E513F06D-0EC1-A326-5D53-4584982B7A7C}"/>
              </a:ext>
            </a:extLst>
          </p:cNvPr>
          <p:cNvSpPr/>
          <p:nvPr/>
        </p:nvSpPr>
        <p:spPr>
          <a:xfrm>
            <a:off x="345440" y="797699"/>
            <a:ext cx="11472672" cy="39346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8C14B05-6E47-E64D-27EB-14479DC07990}"/>
              </a:ext>
            </a:extLst>
          </p:cNvPr>
          <p:cNvSpPr/>
          <p:nvPr/>
        </p:nvSpPr>
        <p:spPr>
          <a:xfrm>
            <a:off x="447834" y="847328"/>
            <a:ext cx="914843" cy="290546"/>
          </a:xfrm>
          <a:prstGeom prst="rect">
            <a:avLst/>
          </a:prstGeom>
          <a:solidFill>
            <a:srgbClr val="354B60">
              <a:alpha val="40000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F9C5A2-3918-2CC1-CD59-21091FE6BB1C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C5647E-82AC-73B1-006C-5D74420256ED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FD41583-8D02-E166-256D-969E71998204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C02C8A-A64C-A4F7-1888-3FCC4201B03E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9950CD-F088-14E4-72F4-7045391F0699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4D805F9-DADF-0EC3-C6A9-F51C905D5F1D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C465F39-5498-1374-F473-1B9D982273E2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9D6918E-A195-B5D4-C49C-64C1AE73515A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1A1FB07-8F52-281C-35C8-3409EC9B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EC80A3D-3998-E568-7549-5FAC6B21F3EA}"/>
              </a:ext>
            </a:extLst>
          </p:cNvPr>
          <p:cNvSpPr txBox="1"/>
          <p:nvPr/>
        </p:nvSpPr>
        <p:spPr>
          <a:xfrm>
            <a:off x="264298" y="0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DATA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70ABEC3-ADC8-E10C-66AF-7D2383FDA772}"/>
              </a:ext>
            </a:extLst>
          </p:cNvPr>
          <p:cNvSpPr/>
          <p:nvPr/>
        </p:nvSpPr>
        <p:spPr>
          <a:xfrm>
            <a:off x="345440" y="4567217"/>
            <a:ext cx="11480800" cy="1904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9F43D88-81D7-281D-5713-7FC232E6CC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30238" y="646184"/>
            <a:ext cx="144000" cy="11448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C09D0CA-73BD-6308-4734-C330A8B3734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741" y="4770239"/>
            <a:ext cx="144000" cy="1476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E162608-976B-D9F9-FD7A-58BDF428088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09674" y="2442994"/>
            <a:ext cx="7335586" cy="2124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94703D07-C17C-1F9E-168D-905D873B5618}"/>
              </a:ext>
            </a:extLst>
          </p:cNvPr>
          <p:cNvSpPr txBox="1"/>
          <p:nvPr/>
        </p:nvSpPr>
        <p:spPr>
          <a:xfrm>
            <a:off x="4416663" y="4963594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Ventana de previsualización de data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FC99397-E568-2514-4F04-E61AE3BBCD19}"/>
              </a:ext>
            </a:extLst>
          </p:cNvPr>
          <p:cNvCxnSpPr>
            <a:cxnSpLocks/>
          </p:cNvCxnSpPr>
          <p:nvPr/>
        </p:nvCxnSpPr>
        <p:spPr>
          <a:xfrm>
            <a:off x="1972206" y="3598252"/>
            <a:ext cx="943432" cy="3458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DDBFB09-1B27-24AE-4CFD-1E629D1ED349}"/>
              </a:ext>
            </a:extLst>
          </p:cNvPr>
          <p:cNvSpPr txBox="1"/>
          <p:nvPr/>
        </p:nvSpPr>
        <p:spPr>
          <a:xfrm>
            <a:off x="11574462" y="4561006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0189385-AB0B-8C5A-60EC-A3877E4ACF17}"/>
              </a:ext>
            </a:extLst>
          </p:cNvPr>
          <p:cNvSpPr/>
          <p:nvPr/>
        </p:nvSpPr>
        <p:spPr>
          <a:xfrm>
            <a:off x="11448795" y="4622673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B5A191A-557B-EF3B-6F59-6AB3746C5DBE}"/>
              </a:ext>
            </a:extLst>
          </p:cNvPr>
          <p:cNvSpPr/>
          <p:nvPr/>
        </p:nvSpPr>
        <p:spPr>
          <a:xfrm>
            <a:off x="11469814" y="4607805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F6E54FF-2744-7762-6D93-EBF2C5A69751}"/>
              </a:ext>
            </a:extLst>
          </p:cNvPr>
          <p:cNvSpPr txBox="1"/>
          <p:nvPr/>
        </p:nvSpPr>
        <p:spPr>
          <a:xfrm>
            <a:off x="11210832" y="4541802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-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DF2701-979D-4999-C2B8-A6ED7F301248}"/>
              </a:ext>
            </a:extLst>
          </p:cNvPr>
          <p:cNvSpPr txBox="1"/>
          <p:nvPr/>
        </p:nvSpPr>
        <p:spPr>
          <a:xfrm>
            <a:off x="514160" y="3315390"/>
            <a:ext cx="2057400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Ventana de Load Files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EA4D424-F99B-3645-670D-DCCC7942ABF3}"/>
              </a:ext>
            </a:extLst>
          </p:cNvPr>
          <p:cNvGrpSpPr/>
          <p:nvPr/>
        </p:nvGrpSpPr>
        <p:grpSpPr>
          <a:xfrm>
            <a:off x="505831" y="879985"/>
            <a:ext cx="918343" cy="246221"/>
            <a:chOff x="770757" y="889535"/>
            <a:chExt cx="918343" cy="246221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FFFC88B-BAEA-24CC-7675-F1399988CC90}"/>
                </a:ext>
              </a:extLst>
            </p:cNvPr>
            <p:cNvSpPr txBox="1"/>
            <p:nvPr/>
          </p:nvSpPr>
          <p:spPr>
            <a:xfrm>
              <a:off x="889508" y="889535"/>
              <a:ext cx="7995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Load Files</a:t>
              </a:r>
            </a:p>
          </p:txBody>
        </p:sp>
        <p:pic>
          <p:nvPicPr>
            <p:cNvPr id="2050" name="Picture 2" descr="Document, File, Up, Upload Icon PNG Transparent Background, Free Download  #43253 - FreeIconsPNG">
              <a:extLst>
                <a:ext uri="{FF2B5EF4-FFF2-40B4-BE49-F238E27FC236}">
                  <a16:creationId xmlns:a16="http://schemas.microsoft.com/office/drawing/2014/main" id="{5D96AA6B-B5B7-0C79-78FA-A2EC41FE57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78" b="89778" l="5778" r="93778">
                          <a14:foregroundMark x1="19111" y1="24000" x2="4444" y2="43556"/>
                          <a14:foregroundMark x1="4444" y1="43556" x2="6222" y2="70222"/>
                          <a14:foregroundMark x1="6222" y1="70222" x2="15556" y2="85333"/>
                          <a14:foregroundMark x1="93778" y1="47111" x2="84444" y2="64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757" y="915522"/>
              <a:ext cx="194246" cy="194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Office database - free Icon PNG, SVG">
            <a:extLst>
              <a:ext uri="{FF2B5EF4-FFF2-40B4-BE49-F238E27FC236}">
                <a16:creationId xmlns:a16="http://schemas.microsoft.com/office/drawing/2014/main" id="{998FE267-D622-81ED-318F-018CAEAA3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770" y="901235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loud icon vector image can be used for ui | Premium Vector">
            <a:extLst>
              <a:ext uri="{FF2B5EF4-FFF2-40B4-BE49-F238E27FC236}">
                <a16:creationId xmlns:a16="http://schemas.microsoft.com/office/drawing/2014/main" id="{42435CCD-86A2-ABFD-0A47-5CA03A302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73" t="21896" r="9147" b="27676"/>
          <a:stretch>
            <a:fillRect/>
          </a:stretch>
        </p:blipFill>
        <p:spPr bwMode="auto">
          <a:xfrm>
            <a:off x="1563745" y="916149"/>
            <a:ext cx="279142" cy="17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E294ACC8-406E-9747-6D4A-1781875867A9}"/>
              </a:ext>
            </a:extLst>
          </p:cNvPr>
          <p:cNvSpPr txBox="1"/>
          <p:nvPr/>
        </p:nvSpPr>
        <p:spPr>
          <a:xfrm>
            <a:off x="1735196" y="885257"/>
            <a:ext cx="124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/>
              <a:t>Cloud </a:t>
            </a:r>
            <a:r>
              <a:rPr lang="es-PE" sz="1000" dirty="0" err="1"/>
              <a:t>repository</a:t>
            </a:r>
            <a:endParaRPr lang="es-PE" sz="1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441F299-AE80-686A-1BEE-8F4F1545B4F8}"/>
              </a:ext>
            </a:extLst>
          </p:cNvPr>
          <p:cNvSpPr txBox="1"/>
          <p:nvPr/>
        </p:nvSpPr>
        <p:spPr>
          <a:xfrm>
            <a:off x="3143250" y="879985"/>
            <a:ext cx="9622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Online server</a:t>
            </a:r>
          </a:p>
        </p:txBody>
      </p:sp>
      <p:pic>
        <p:nvPicPr>
          <p:cNvPr id="4098" name="Picture 2" descr="Open files and folders with a picker - UWP applications | Microsoft Learn">
            <a:extLst>
              <a:ext uri="{FF2B5EF4-FFF2-40B4-BE49-F238E27FC236}">
                <a16:creationId xmlns:a16="http://schemas.microsoft.com/office/drawing/2014/main" id="{725DCA94-5F1B-24FA-DF32-3B9DD005E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210" y="1326509"/>
            <a:ext cx="5868311" cy="39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ángulo 38">
            <a:extLst>
              <a:ext uri="{FF2B5EF4-FFF2-40B4-BE49-F238E27FC236}">
                <a16:creationId xmlns:a16="http://schemas.microsoft.com/office/drawing/2014/main" id="{B2302368-095C-1ADB-C800-9F8440399FF2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FFCA0D9-3651-9733-90F1-BD5FECA5E73B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162289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390E-BD72-D770-8848-D8A1011B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5EB06E5B-EDE7-0497-5355-91A997EC1D93}"/>
              </a:ext>
            </a:extLst>
          </p:cNvPr>
          <p:cNvSpPr/>
          <p:nvPr/>
        </p:nvSpPr>
        <p:spPr>
          <a:xfrm>
            <a:off x="345440" y="797699"/>
            <a:ext cx="11472672" cy="39346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58CE375-06B7-DA95-7213-5297D7DEEE77}"/>
              </a:ext>
            </a:extLst>
          </p:cNvPr>
          <p:cNvSpPr/>
          <p:nvPr/>
        </p:nvSpPr>
        <p:spPr>
          <a:xfrm>
            <a:off x="447834" y="847328"/>
            <a:ext cx="914843" cy="290546"/>
          </a:xfrm>
          <a:prstGeom prst="rect">
            <a:avLst/>
          </a:prstGeom>
          <a:solidFill>
            <a:srgbClr val="354B60">
              <a:alpha val="40000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49AA80B-9203-AD4D-70C0-6FB5472AAD07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DE0C7B1-A74F-736F-6940-09C5445C4E24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652F94-A66A-D4AA-CB19-51F398CBF9A0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D95CBA-C291-D5D9-F7AA-DE8A3BC20D81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14EAA0-8053-AAD9-CD94-B0D768E92E3C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3AC587-4570-12B9-CF58-4D33D2D1230E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F7C267D-74E1-67DF-CFCF-CFCD1A927CC0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67D58B6-D836-13E8-7913-9AA4ED7A3E15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AD7733B-A757-5237-381E-3FE71F28F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276B7F0-CD91-9CE4-5E46-2BB9E8B757CB}"/>
              </a:ext>
            </a:extLst>
          </p:cNvPr>
          <p:cNvSpPr txBox="1"/>
          <p:nvPr/>
        </p:nvSpPr>
        <p:spPr>
          <a:xfrm>
            <a:off x="264298" y="0"/>
            <a:ext cx="230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DATA: Data Definition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71E15C-D681-7B99-C256-F8436CED3CEA}"/>
              </a:ext>
            </a:extLst>
          </p:cNvPr>
          <p:cNvSpPr/>
          <p:nvPr/>
        </p:nvSpPr>
        <p:spPr>
          <a:xfrm>
            <a:off x="345440" y="4567217"/>
            <a:ext cx="11480800" cy="1904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9E3A03-98F9-9478-3160-6FD21D2139C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30238" y="646184"/>
            <a:ext cx="144000" cy="11448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47CCE9A-CD20-22D4-92A9-197E4D0DC19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741" y="4770239"/>
            <a:ext cx="144000" cy="1476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CD62069-B3A8-1647-7ACC-34DEAC65A18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09674" y="2442994"/>
            <a:ext cx="7335586" cy="2124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49978AE4-C505-BA44-71A9-7E8154AB0741}"/>
              </a:ext>
            </a:extLst>
          </p:cNvPr>
          <p:cNvSpPr txBox="1"/>
          <p:nvPr/>
        </p:nvSpPr>
        <p:spPr>
          <a:xfrm>
            <a:off x="4416663" y="4963594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Ventana de previsualización de data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A0B1531-F763-5E86-A223-5F472B9490DE}"/>
              </a:ext>
            </a:extLst>
          </p:cNvPr>
          <p:cNvSpPr txBox="1"/>
          <p:nvPr/>
        </p:nvSpPr>
        <p:spPr>
          <a:xfrm>
            <a:off x="11574462" y="4561006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DB4A263-3C83-6822-5274-F374B46F1EA5}"/>
              </a:ext>
            </a:extLst>
          </p:cNvPr>
          <p:cNvSpPr/>
          <p:nvPr/>
        </p:nvSpPr>
        <p:spPr>
          <a:xfrm>
            <a:off x="11448795" y="4622673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A7DCFFB-47A0-FA38-2F58-85CA7F5D4C3C}"/>
              </a:ext>
            </a:extLst>
          </p:cNvPr>
          <p:cNvSpPr/>
          <p:nvPr/>
        </p:nvSpPr>
        <p:spPr>
          <a:xfrm>
            <a:off x="11469814" y="4607805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2370C8E-FDF5-E7DA-25A7-EB3B195F7E75}"/>
              </a:ext>
            </a:extLst>
          </p:cNvPr>
          <p:cNvSpPr txBox="1"/>
          <p:nvPr/>
        </p:nvSpPr>
        <p:spPr>
          <a:xfrm>
            <a:off x="11210832" y="4541802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-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FB52C0E-B31B-F614-D85B-430B943D80A2}"/>
              </a:ext>
            </a:extLst>
          </p:cNvPr>
          <p:cNvGrpSpPr/>
          <p:nvPr/>
        </p:nvGrpSpPr>
        <p:grpSpPr>
          <a:xfrm>
            <a:off x="505831" y="879985"/>
            <a:ext cx="918343" cy="246221"/>
            <a:chOff x="770757" y="889535"/>
            <a:chExt cx="918343" cy="246221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227C34F6-E338-462F-FD0B-1D605EEA7215}"/>
                </a:ext>
              </a:extLst>
            </p:cNvPr>
            <p:cNvSpPr txBox="1"/>
            <p:nvPr/>
          </p:nvSpPr>
          <p:spPr>
            <a:xfrm>
              <a:off x="889508" y="889535"/>
              <a:ext cx="7995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Load Files</a:t>
              </a:r>
            </a:p>
          </p:txBody>
        </p:sp>
        <p:pic>
          <p:nvPicPr>
            <p:cNvPr id="2050" name="Picture 2" descr="Document, File, Up, Upload Icon PNG Transparent Background, Free Download  #43253 - FreeIconsPNG">
              <a:extLst>
                <a:ext uri="{FF2B5EF4-FFF2-40B4-BE49-F238E27FC236}">
                  <a16:creationId xmlns:a16="http://schemas.microsoft.com/office/drawing/2014/main" id="{FF58F1BC-BC3D-4339-C21D-DE8438755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78" b="89778" l="5778" r="93778">
                          <a14:foregroundMark x1="19111" y1="24000" x2="4444" y2="43556"/>
                          <a14:foregroundMark x1="4444" y1="43556" x2="6222" y2="70222"/>
                          <a14:foregroundMark x1="6222" y1="70222" x2="15556" y2="85333"/>
                          <a14:foregroundMark x1="93778" y1="47111" x2="84444" y2="64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757" y="915522"/>
              <a:ext cx="194246" cy="194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Office database - free Icon PNG, SVG">
            <a:extLst>
              <a:ext uri="{FF2B5EF4-FFF2-40B4-BE49-F238E27FC236}">
                <a16:creationId xmlns:a16="http://schemas.microsoft.com/office/drawing/2014/main" id="{32C60B64-2734-E01E-0B9A-4B0073636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770" y="901235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loud icon vector image can be used for ui | Premium Vector">
            <a:extLst>
              <a:ext uri="{FF2B5EF4-FFF2-40B4-BE49-F238E27FC236}">
                <a16:creationId xmlns:a16="http://schemas.microsoft.com/office/drawing/2014/main" id="{E682CAAF-FB21-2B2C-D143-D3AAAEB123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73" t="21896" r="9147" b="27676"/>
          <a:stretch>
            <a:fillRect/>
          </a:stretch>
        </p:blipFill>
        <p:spPr bwMode="auto">
          <a:xfrm>
            <a:off x="1563745" y="916149"/>
            <a:ext cx="279142" cy="17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32E526B-37BA-2852-796E-79B5B93184DC}"/>
              </a:ext>
            </a:extLst>
          </p:cNvPr>
          <p:cNvSpPr txBox="1"/>
          <p:nvPr/>
        </p:nvSpPr>
        <p:spPr>
          <a:xfrm>
            <a:off x="1735196" y="885257"/>
            <a:ext cx="124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/>
              <a:t>Cloud </a:t>
            </a:r>
            <a:r>
              <a:rPr lang="es-PE" sz="1000" dirty="0" err="1"/>
              <a:t>repository</a:t>
            </a:r>
            <a:endParaRPr lang="es-PE" sz="1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25455B7-963B-8B1E-428A-2A4932D9ADF8}"/>
              </a:ext>
            </a:extLst>
          </p:cNvPr>
          <p:cNvSpPr txBox="1"/>
          <p:nvPr/>
        </p:nvSpPr>
        <p:spPr>
          <a:xfrm>
            <a:off x="3143250" y="879985"/>
            <a:ext cx="9622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Online server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9A1076E-1E8F-16C5-A985-3CDE9D1B9704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5349FB8-33C1-632F-460C-CB44245EC7EA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D9457BF-16E3-D8E8-5BD5-3358C8E04765}"/>
              </a:ext>
            </a:extLst>
          </p:cNvPr>
          <p:cNvSpPr/>
          <p:nvPr/>
        </p:nvSpPr>
        <p:spPr>
          <a:xfrm>
            <a:off x="803479" y="1570748"/>
            <a:ext cx="6082577" cy="422205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5315CE5-F294-9B5F-7E66-F386BFBFDB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701" y="1176177"/>
            <a:ext cx="4866977" cy="446298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917D820-B900-7A99-E771-A1A7FCD505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r="80227" b="21382"/>
          <a:stretch>
            <a:fillRect/>
          </a:stretch>
        </p:blipFill>
        <p:spPr>
          <a:xfrm>
            <a:off x="905258" y="1659815"/>
            <a:ext cx="187603" cy="21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503F75D6-5AA1-95A6-29FC-8D5B4161220F}"/>
              </a:ext>
            </a:extLst>
          </p:cNvPr>
          <p:cNvSpPr txBox="1"/>
          <p:nvPr/>
        </p:nvSpPr>
        <p:spPr>
          <a:xfrm>
            <a:off x="1140545" y="1629315"/>
            <a:ext cx="1218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Data Definition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8CA4976-8FF6-F84F-CC57-044D5D0674FE}"/>
              </a:ext>
            </a:extLst>
          </p:cNvPr>
          <p:cNvSpPr/>
          <p:nvPr/>
        </p:nvSpPr>
        <p:spPr>
          <a:xfrm>
            <a:off x="974344" y="1941870"/>
            <a:ext cx="5761736" cy="3699624"/>
          </a:xfrm>
          <a:prstGeom prst="roundRect">
            <a:avLst>
              <a:gd name="adj" fmla="val 3913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516995E-7167-28AB-8D2D-4BF19FF7B0AB}"/>
              </a:ext>
            </a:extLst>
          </p:cNvPr>
          <p:cNvSpPr/>
          <p:nvPr/>
        </p:nvSpPr>
        <p:spPr>
          <a:xfrm>
            <a:off x="1239520" y="3660140"/>
            <a:ext cx="1285077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/>
              <a:t>Variable ingresada</a:t>
            </a:r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30E25499-6797-FFFC-C6F9-D2E0835EF872}"/>
              </a:ext>
            </a:extLst>
          </p:cNvPr>
          <p:cNvSpPr/>
          <p:nvPr/>
        </p:nvSpPr>
        <p:spPr>
          <a:xfrm>
            <a:off x="2641144" y="3684551"/>
            <a:ext cx="250052" cy="3764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4DEDD57-6141-F8B1-1F18-78F1BABFC9B9}"/>
              </a:ext>
            </a:extLst>
          </p:cNvPr>
          <p:cNvSpPr/>
          <p:nvPr/>
        </p:nvSpPr>
        <p:spPr>
          <a:xfrm>
            <a:off x="3009473" y="3660140"/>
            <a:ext cx="1285077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/>
              <a:t>Variable definida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3A28C53A-308A-181B-BAC7-4D33AC33C1B2}"/>
              </a:ext>
            </a:extLst>
          </p:cNvPr>
          <p:cNvSpPr/>
          <p:nvPr/>
        </p:nvSpPr>
        <p:spPr>
          <a:xfrm>
            <a:off x="4375829" y="3660140"/>
            <a:ext cx="1122711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/>
              <a:t>Unidades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9AC6D1F-00AC-0751-928E-ECF7CC3DE913}"/>
              </a:ext>
            </a:extLst>
          </p:cNvPr>
          <p:cNvSpPr txBox="1"/>
          <p:nvPr/>
        </p:nvSpPr>
        <p:spPr>
          <a:xfrm>
            <a:off x="1036827" y="2015447"/>
            <a:ext cx="1521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dirty="0"/>
              <a:t>Datos espaciales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0E7DA77-EDB2-A960-6018-ED23E4DCF22A}"/>
              </a:ext>
            </a:extLst>
          </p:cNvPr>
          <p:cNvSpPr txBox="1"/>
          <p:nvPr/>
        </p:nvSpPr>
        <p:spPr>
          <a:xfrm>
            <a:off x="3055516" y="2307064"/>
            <a:ext cx="1119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dirty="0"/>
              <a:t>East</a:t>
            </a:r>
          </a:p>
          <a:p>
            <a:pPr algn="ctr"/>
            <a:r>
              <a:rPr lang="es-PE" sz="1200" dirty="0"/>
              <a:t>North</a:t>
            </a:r>
          </a:p>
          <a:p>
            <a:pPr algn="ctr"/>
            <a:r>
              <a:rPr lang="es-PE" sz="1200" dirty="0" err="1"/>
              <a:t>Elevation</a:t>
            </a:r>
            <a:endParaRPr lang="es-PE" sz="12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3CF3724-EA2C-3E3D-A5EF-E115C07AD623}"/>
              </a:ext>
            </a:extLst>
          </p:cNvPr>
          <p:cNvSpPr txBox="1"/>
          <p:nvPr/>
        </p:nvSpPr>
        <p:spPr>
          <a:xfrm>
            <a:off x="1271393" y="2288593"/>
            <a:ext cx="1119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dirty="0"/>
              <a:t>Este/X</a:t>
            </a:r>
          </a:p>
          <a:p>
            <a:pPr algn="ctr"/>
            <a:r>
              <a:rPr lang="es-PE" sz="1200" dirty="0"/>
              <a:t>Norte/Y</a:t>
            </a:r>
          </a:p>
          <a:p>
            <a:pPr algn="ctr"/>
            <a:r>
              <a:rPr lang="es-PE" sz="1200" dirty="0"/>
              <a:t>Cota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BB9986F-F4B1-A727-B153-F647D95108BD}"/>
              </a:ext>
            </a:extLst>
          </p:cNvPr>
          <p:cNvSpPr/>
          <p:nvPr/>
        </p:nvSpPr>
        <p:spPr>
          <a:xfrm>
            <a:off x="4748702" y="2295170"/>
            <a:ext cx="1446760" cy="3860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>
                <a:solidFill>
                  <a:schemeClr val="tx1"/>
                </a:solidFill>
              </a:rPr>
              <a:t>Define </a:t>
            </a:r>
            <a:r>
              <a:rPr lang="es-PE" sz="1100" dirty="0" err="1">
                <a:solidFill>
                  <a:schemeClr val="tx1"/>
                </a:solidFill>
              </a:rPr>
              <a:t>projection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5797EB0-23EA-BE95-E48F-54646B5256B4}"/>
              </a:ext>
            </a:extLst>
          </p:cNvPr>
          <p:cNvSpPr txBox="1"/>
          <p:nvPr/>
        </p:nvSpPr>
        <p:spPr>
          <a:xfrm>
            <a:off x="1036827" y="3152001"/>
            <a:ext cx="1521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dirty="0"/>
              <a:t>Datos espaciales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9F3879A-3CEF-9ECD-D7F0-34A982CBBA44}"/>
              </a:ext>
            </a:extLst>
          </p:cNvPr>
          <p:cNvSpPr txBox="1"/>
          <p:nvPr/>
        </p:nvSpPr>
        <p:spPr>
          <a:xfrm>
            <a:off x="2973962" y="4236190"/>
            <a:ext cx="1441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highlight>
                  <a:srgbClr val="FFFF00"/>
                </a:highlight>
              </a:rPr>
              <a:t>Elementos</a:t>
            </a:r>
          </a:p>
          <a:p>
            <a:pPr algn="ctr"/>
            <a:r>
              <a:rPr lang="es-PE" sz="1200" dirty="0" err="1"/>
              <a:t>Numerico</a:t>
            </a:r>
            <a:endParaRPr lang="es-PE" sz="1200" dirty="0"/>
          </a:p>
          <a:p>
            <a:pPr algn="ctr"/>
            <a:r>
              <a:rPr lang="es-PE" sz="1200" dirty="0" err="1"/>
              <a:t>Categorico</a:t>
            </a:r>
            <a:r>
              <a:rPr lang="es-PE" sz="1200" dirty="0"/>
              <a:t>/Texto</a:t>
            </a:r>
          </a:p>
          <a:p>
            <a:pPr algn="ctr"/>
            <a:endParaRPr lang="es-PE" sz="12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598DFAA-7AE4-44FE-9685-6EC2D1B5A04A}"/>
              </a:ext>
            </a:extLst>
          </p:cNvPr>
          <p:cNvSpPr txBox="1"/>
          <p:nvPr/>
        </p:nvSpPr>
        <p:spPr>
          <a:xfrm>
            <a:off x="1266444" y="4216750"/>
            <a:ext cx="11196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dirty="0"/>
              <a:t>Campo 1</a:t>
            </a:r>
          </a:p>
          <a:p>
            <a:pPr algn="ctr"/>
            <a:r>
              <a:rPr lang="es-PE" sz="1200" dirty="0"/>
              <a:t>Campo 2</a:t>
            </a:r>
          </a:p>
          <a:p>
            <a:pPr algn="ctr"/>
            <a:r>
              <a:rPr lang="es-PE" sz="1200" dirty="0"/>
              <a:t>Campo 3</a:t>
            </a:r>
          </a:p>
          <a:p>
            <a:pPr algn="ctr"/>
            <a:r>
              <a:rPr lang="es-PE" sz="1200" dirty="0"/>
              <a:t>.</a:t>
            </a:r>
          </a:p>
          <a:p>
            <a:pPr algn="ctr"/>
            <a:r>
              <a:rPr lang="es-PE" sz="1200" dirty="0"/>
              <a:t>.</a:t>
            </a:r>
          </a:p>
          <a:p>
            <a:pPr algn="ctr"/>
            <a:r>
              <a:rPr lang="es-PE" sz="1200" dirty="0"/>
              <a:t>.</a:t>
            </a:r>
          </a:p>
          <a:p>
            <a:pPr algn="ctr"/>
            <a:endParaRPr lang="es-PE" sz="1200" dirty="0"/>
          </a:p>
        </p:txBody>
      </p:sp>
      <p:pic>
        <p:nvPicPr>
          <p:cNvPr id="51" name="Imagen 50" descr="Mundo - Iconos gratis de web">
            <a:extLst>
              <a:ext uri="{FF2B5EF4-FFF2-40B4-BE49-F238E27FC236}">
                <a16:creationId xmlns:a16="http://schemas.microsoft.com/office/drawing/2014/main" id="{AF77B75E-329B-47CE-95C5-8E7FE90D4D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8994" y="2386236"/>
            <a:ext cx="199627" cy="19962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3184C7C-0E10-711D-E2DC-C0CAAD535668}"/>
              </a:ext>
            </a:extLst>
          </p:cNvPr>
          <p:cNvSpPr/>
          <p:nvPr/>
        </p:nvSpPr>
        <p:spPr>
          <a:xfrm>
            <a:off x="8926494" y="2027179"/>
            <a:ext cx="1446760" cy="3860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>
                <a:solidFill>
                  <a:srgbClr val="FF0000"/>
                </a:solidFill>
              </a:rPr>
              <a:t>EJEMPLO IOGAS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E8C295-8672-E054-EBE3-75AFDE26E1B3}"/>
              </a:ext>
            </a:extLst>
          </p:cNvPr>
          <p:cNvSpPr txBox="1"/>
          <p:nvPr/>
        </p:nvSpPr>
        <p:spPr>
          <a:xfrm>
            <a:off x="4239774" y="4245124"/>
            <a:ext cx="1460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dirty="0"/>
              <a:t>Solo se activa con “Elementos”</a:t>
            </a:r>
          </a:p>
          <a:p>
            <a:pPr algn="ctr"/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422637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3E28-F531-DF5A-79BA-FF89CA992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DF91F49-1CC5-8C55-EB6C-495DD50F1BE5}"/>
              </a:ext>
            </a:extLst>
          </p:cNvPr>
          <p:cNvSpPr/>
          <p:nvPr/>
        </p:nvSpPr>
        <p:spPr>
          <a:xfrm>
            <a:off x="345440" y="782320"/>
            <a:ext cx="2184400" cy="5689600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6E13EB-9B18-589D-C387-248680B7EFE1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489D607-1D36-8C0F-2C87-E6A628929AB1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1E7843F-513F-DB61-D3C3-EEDDDB559D8A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3DC7CAC-C943-F96B-14E8-874E8F67BC7C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8961DD4-A0C8-9D2C-0300-9D83A479D23B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F2F2F2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D3D9DEA-BECD-B511-735D-6F548CDE3A50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7431852-19F7-EF6B-681E-879F69C6E816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2D0EFAF-F0A5-F072-F0CF-E388E8C551F7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939662-B46F-8F65-5FD2-BEE60D3532EE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D708885-5BBD-8C8F-3C1D-2CFE34499EA2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AC52DCD-CE9D-509E-58FF-F523B6EA1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D7E4D69-B2EE-2440-98E2-9E11CAB931D6}"/>
              </a:ext>
            </a:extLst>
          </p:cNvPr>
          <p:cNvSpPr txBox="1"/>
          <p:nvPr/>
        </p:nvSpPr>
        <p:spPr>
          <a:xfrm>
            <a:off x="264298" y="0"/>
            <a:ext cx="272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MODULOS: </a:t>
            </a:r>
            <a:r>
              <a:rPr lang="es-PE" dirty="0" err="1"/>
              <a:t>Geochem</a:t>
            </a:r>
            <a:r>
              <a:rPr lang="es-PE" dirty="0"/>
              <a:t> Pro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1AD2F32-817E-C604-CEA5-B7C9DBAC081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09674" y="2442994"/>
            <a:ext cx="7335586" cy="2124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9C57184C-4078-BC2E-F2C6-B761F35A5AEC}"/>
              </a:ext>
            </a:extLst>
          </p:cNvPr>
          <p:cNvSpPr/>
          <p:nvPr/>
        </p:nvSpPr>
        <p:spPr>
          <a:xfrm>
            <a:off x="447041" y="1966625"/>
            <a:ext cx="2001520" cy="4339064"/>
          </a:xfrm>
          <a:custGeom>
            <a:avLst/>
            <a:gdLst>
              <a:gd name="connsiteX0" fmla="*/ 0 w 1919235"/>
              <a:gd name="connsiteY0" fmla="*/ 0 h 2984361"/>
              <a:gd name="connsiteX1" fmla="*/ 1276141 w 1919235"/>
              <a:gd name="connsiteY1" fmla="*/ 0 h 2984361"/>
              <a:gd name="connsiteX2" fmla="*/ 1276141 w 1919235"/>
              <a:gd name="connsiteY2" fmla="*/ 180871 h 2984361"/>
              <a:gd name="connsiteX3" fmla="*/ 1919235 w 1919235"/>
              <a:gd name="connsiteY3" fmla="*/ 190919 h 2984361"/>
              <a:gd name="connsiteX4" fmla="*/ 1919235 w 1919235"/>
              <a:gd name="connsiteY4" fmla="*/ 2984361 h 2984361"/>
              <a:gd name="connsiteX5" fmla="*/ 0 w 1919235"/>
              <a:gd name="connsiteY5" fmla="*/ 2984361 h 2984361"/>
              <a:gd name="connsiteX6" fmla="*/ 0 w 1919235"/>
              <a:gd name="connsite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191923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8805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9453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554657" h="2984361">
                <a:moveTo>
                  <a:pt x="0" y="0"/>
                </a:moveTo>
                <a:lnTo>
                  <a:pt x="1373400" y="0"/>
                </a:lnTo>
                <a:lnTo>
                  <a:pt x="1373400" y="180871"/>
                </a:lnTo>
                <a:lnTo>
                  <a:pt x="2554657" y="179453"/>
                </a:lnTo>
                <a:cubicBezTo>
                  <a:pt x="2553576" y="1116333"/>
                  <a:pt x="2552496" y="2047481"/>
                  <a:pt x="2551415" y="2984361"/>
                </a:cubicBezTo>
                <a:lnTo>
                  <a:pt x="0" y="2984361"/>
                </a:lnTo>
                <a:lnTo>
                  <a:pt x="0" y="0"/>
                </a:lnTo>
                <a:close/>
              </a:path>
            </a:pathLst>
          </a:custGeom>
          <a:solidFill>
            <a:srgbClr val="E9EAEA"/>
          </a:solidFill>
          <a:ln w="12700">
            <a:solidFill>
              <a:srgbClr val="CDCD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EE6F869-9C15-58B2-3A4B-0430BE73CFBD}"/>
              </a:ext>
            </a:extLst>
          </p:cNvPr>
          <p:cNvSpPr txBox="1"/>
          <p:nvPr/>
        </p:nvSpPr>
        <p:spPr>
          <a:xfrm>
            <a:off x="504193" y="2016449"/>
            <a:ext cx="10104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Geochemistry</a:t>
            </a:r>
            <a:endParaRPr lang="es-P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B5F6081-E9C8-FE33-826B-47B4F36B3644}"/>
              </a:ext>
            </a:extLst>
          </p:cNvPr>
          <p:cNvSpPr/>
          <p:nvPr/>
        </p:nvSpPr>
        <p:spPr>
          <a:xfrm>
            <a:off x="2558288" y="4567217"/>
            <a:ext cx="9267952" cy="1904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9DF63B3D-E0BD-4A1C-5F5B-97F4EBC5984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20262" y="1736208"/>
            <a:ext cx="144000" cy="926795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3B598294-D16F-8612-1D30-D77917C3C8E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655741" y="4770239"/>
            <a:ext cx="89220" cy="1476000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86085E0B-1254-4AD0-BFDD-96A04263A63D}"/>
              </a:ext>
            </a:extLst>
          </p:cNvPr>
          <p:cNvSpPr txBox="1"/>
          <p:nvPr/>
        </p:nvSpPr>
        <p:spPr>
          <a:xfrm>
            <a:off x="6078315" y="4887217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Ventana de previsualización de data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D8EAA54-618E-3191-C396-CF872C37EC45}"/>
              </a:ext>
            </a:extLst>
          </p:cNvPr>
          <p:cNvSpPr txBox="1"/>
          <p:nvPr/>
        </p:nvSpPr>
        <p:spPr>
          <a:xfrm>
            <a:off x="9019634" y="5119398"/>
            <a:ext cx="2057400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Barras de movimiento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9D972105-DC3D-0CA1-02F5-C6D270160C1D}"/>
              </a:ext>
            </a:extLst>
          </p:cNvPr>
          <p:cNvCxnSpPr>
            <a:cxnSpLocks/>
          </p:cNvCxnSpPr>
          <p:nvPr/>
        </p:nvCxnSpPr>
        <p:spPr>
          <a:xfrm>
            <a:off x="10630660" y="542525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D7520B1-5B96-FA96-C655-994CCD0CFD6D}"/>
              </a:ext>
            </a:extLst>
          </p:cNvPr>
          <p:cNvCxnSpPr>
            <a:cxnSpLocks/>
          </p:cNvCxnSpPr>
          <p:nvPr/>
        </p:nvCxnSpPr>
        <p:spPr>
          <a:xfrm flipH="1">
            <a:off x="8807488" y="5425259"/>
            <a:ext cx="876094" cy="738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FEE9466-BD4F-F93C-A461-B293D9325561}"/>
              </a:ext>
            </a:extLst>
          </p:cNvPr>
          <p:cNvSpPr txBox="1"/>
          <p:nvPr/>
        </p:nvSpPr>
        <p:spPr>
          <a:xfrm>
            <a:off x="11574462" y="4561006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B6B14F1-A70E-9B9E-D2AB-488350C967C2}"/>
              </a:ext>
            </a:extLst>
          </p:cNvPr>
          <p:cNvSpPr/>
          <p:nvPr/>
        </p:nvSpPr>
        <p:spPr>
          <a:xfrm>
            <a:off x="11469814" y="4607805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CD87D3B-68BA-D044-5528-38E2BD77BCC9}"/>
              </a:ext>
            </a:extLst>
          </p:cNvPr>
          <p:cNvSpPr txBox="1"/>
          <p:nvPr/>
        </p:nvSpPr>
        <p:spPr>
          <a:xfrm>
            <a:off x="11210832" y="4541802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-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F6064B7-31E3-544F-AC7F-5405ACBB6A3D}"/>
              </a:ext>
            </a:extLst>
          </p:cNvPr>
          <p:cNvSpPr txBox="1"/>
          <p:nvPr/>
        </p:nvSpPr>
        <p:spPr>
          <a:xfrm>
            <a:off x="8129882" y="4064880"/>
            <a:ext cx="2057400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Botón de minimizar, restaurar y cerrar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C7E9ABF-86E0-D7F1-9F98-F347A53CADD2}"/>
              </a:ext>
            </a:extLst>
          </p:cNvPr>
          <p:cNvCxnSpPr>
            <a:cxnSpLocks/>
          </p:cNvCxnSpPr>
          <p:nvPr/>
        </p:nvCxnSpPr>
        <p:spPr>
          <a:xfrm>
            <a:off x="10187282" y="437710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3" name="CuadroTexto 1052">
            <a:extLst>
              <a:ext uri="{FF2B5EF4-FFF2-40B4-BE49-F238E27FC236}">
                <a16:creationId xmlns:a16="http://schemas.microsoft.com/office/drawing/2014/main" id="{BBF3547F-C647-4BDC-96FD-B03C9BCCCEE9}"/>
              </a:ext>
            </a:extLst>
          </p:cNvPr>
          <p:cNvSpPr txBox="1"/>
          <p:nvPr/>
        </p:nvSpPr>
        <p:spPr>
          <a:xfrm>
            <a:off x="476038" y="6028796"/>
            <a:ext cx="1482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s-PE" sz="1000" u="sng" dirty="0" err="1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Guide</a:t>
            </a:r>
          </a:p>
        </p:txBody>
      </p:sp>
      <p:sp>
        <p:nvSpPr>
          <p:cNvPr id="1056" name="CuadroTexto 1055">
            <a:extLst>
              <a:ext uri="{FF2B5EF4-FFF2-40B4-BE49-F238E27FC236}">
                <a16:creationId xmlns:a16="http://schemas.microsoft.com/office/drawing/2014/main" id="{BE2EF0CF-9410-EF49-DB20-D056465605AA}"/>
              </a:ext>
            </a:extLst>
          </p:cNvPr>
          <p:cNvSpPr txBox="1"/>
          <p:nvPr/>
        </p:nvSpPr>
        <p:spPr>
          <a:xfrm>
            <a:off x="2760980" y="1638533"/>
            <a:ext cx="1633220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 err="1">
                <a:solidFill>
                  <a:srgbClr val="FF0000"/>
                </a:solidFill>
              </a:rPr>
              <a:t>Geochemistry</a:t>
            </a:r>
            <a:r>
              <a:rPr lang="es-PE" sz="105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s-PE" sz="1050" dirty="0">
                <a:solidFill>
                  <a:srgbClr val="FF0000"/>
                </a:solidFill>
              </a:rPr>
              <a:t>Modules</a:t>
            </a:r>
          </a:p>
        </p:txBody>
      </p:sp>
      <p:cxnSp>
        <p:nvCxnSpPr>
          <p:cNvPr id="1057" name="Conector recto de flecha 1056">
            <a:extLst>
              <a:ext uri="{FF2B5EF4-FFF2-40B4-BE49-F238E27FC236}">
                <a16:creationId xmlns:a16="http://schemas.microsoft.com/office/drawing/2014/main" id="{D108EA9D-5B4A-2D5B-A67B-40F14C600BF0}"/>
              </a:ext>
            </a:extLst>
          </p:cNvPr>
          <p:cNvCxnSpPr>
            <a:cxnSpLocks/>
          </p:cNvCxnSpPr>
          <p:nvPr/>
        </p:nvCxnSpPr>
        <p:spPr>
          <a:xfrm flipH="1">
            <a:off x="2337696" y="2176149"/>
            <a:ext cx="896571" cy="606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upo 61">
            <a:extLst>
              <a:ext uri="{FF2B5EF4-FFF2-40B4-BE49-F238E27FC236}">
                <a16:creationId xmlns:a16="http://schemas.microsoft.com/office/drawing/2014/main" id="{00711ACD-2C36-E5A8-C460-0099E115CD1B}"/>
              </a:ext>
            </a:extLst>
          </p:cNvPr>
          <p:cNvGrpSpPr/>
          <p:nvPr/>
        </p:nvGrpSpPr>
        <p:grpSpPr>
          <a:xfrm>
            <a:off x="632909" y="1070600"/>
            <a:ext cx="1539548" cy="246221"/>
            <a:chOff x="586732" y="1617446"/>
            <a:chExt cx="1539548" cy="246221"/>
          </a:xfrm>
        </p:grpSpPr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0BA67A7B-4D88-77A9-A613-A36B33BCB092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1</a:t>
              </a:r>
            </a:p>
          </p:txBody>
        </p:sp>
        <p:pic>
          <p:nvPicPr>
            <p:cNvPr id="1024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621579DF-E20A-0114-ADA9-D0304DCB8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Triángulo isósceles 1024">
              <a:extLst>
                <a:ext uri="{FF2B5EF4-FFF2-40B4-BE49-F238E27FC236}">
                  <a16:creationId xmlns:a16="http://schemas.microsoft.com/office/drawing/2014/main" id="{68E40393-B110-EB7F-6A3D-0FF15CCE8396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040" name="Grupo 1039">
            <a:extLst>
              <a:ext uri="{FF2B5EF4-FFF2-40B4-BE49-F238E27FC236}">
                <a16:creationId xmlns:a16="http://schemas.microsoft.com/office/drawing/2014/main" id="{F45D6EFB-6C55-A802-2845-945D2735A954}"/>
              </a:ext>
            </a:extLst>
          </p:cNvPr>
          <p:cNvGrpSpPr/>
          <p:nvPr/>
        </p:nvGrpSpPr>
        <p:grpSpPr>
          <a:xfrm>
            <a:off x="632909" y="1426510"/>
            <a:ext cx="1539548" cy="246221"/>
            <a:chOff x="586732" y="1617446"/>
            <a:chExt cx="1539548" cy="246221"/>
          </a:xfrm>
        </p:grpSpPr>
        <p:sp>
          <p:nvSpPr>
            <p:cNvPr id="1041" name="CuadroTexto 1040">
              <a:extLst>
                <a:ext uri="{FF2B5EF4-FFF2-40B4-BE49-F238E27FC236}">
                  <a16:creationId xmlns:a16="http://schemas.microsoft.com/office/drawing/2014/main" id="{FD70C6E9-DED1-27A7-9FAA-610C0A6A3288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2</a:t>
              </a:r>
            </a:p>
          </p:txBody>
        </p:sp>
        <p:pic>
          <p:nvPicPr>
            <p:cNvPr id="1042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DE0CECD0-4360-0135-EA07-0730B5F363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Triángulo isósceles 1042">
              <a:extLst>
                <a:ext uri="{FF2B5EF4-FFF2-40B4-BE49-F238E27FC236}">
                  <a16:creationId xmlns:a16="http://schemas.microsoft.com/office/drawing/2014/main" id="{7A2CA20E-D60A-56BF-2554-927ECAA9DFFE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67" name="CuadroTexto 1066">
            <a:extLst>
              <a:ext uri="{FF2B5EF4-FFF2-40B4-BE49-F238E27FC236}">
                <a16:creationId xmlns:a16="http://schemas.microsoft.com/office/drawing/2014/main" id="{A05C73D3-6E18-1B44-D081-C03B05A4A824}"/>
              </a:ext>
            </a:extLst>
          </p:cNvPr>
          <p:cNvSpPr txBox="1"/>
          <p:nvPr/>
        </p:nvSpPr>
        <p:spPr>
          <a:xfrm>
            <a:off x="2993064" y="982319"/>
            <a:ext cx="1633220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Set </a:t>
            </a:r>
            <a:r>
              <a:rPr lang="es-PE" sz="1050" dirty="0" err="1">
                <a:solidFill>
                  <a:srgbClr val="FF0000"/>
                </a:solidFill>
              </a:rPr>
              <a:t>list</a:t>
            </a:r>
            <a:r>
              <a:rPr lang="es-PE" sz="1050" dirty="0">
                <a:solidFill>
                  <a:srgbClr val="FF0000"/>
                </a:solidFill>
              </a:rPr>
              <a:t> de datos importados</a:t>
            </a:r>
          </a:p>
        </p:txBody>
      </p:sp>
      <p:cxnSp>
        <p:nvCxnSpPr>
          <p:cNvPr id="1068" name="Conector recto de flecha 1067">
            <a:extLst>
              <a:ext uri="{FF2B5EF4-FFF2-40B4-BE49-F238E27FC236}">
                <a16:creationId xmlns:a16="http://schemas.microsoft.com/office/drawing/2014/main" id="{9EB7D590-7B7C-DE95-893A-712B63BBF84D}"/>
              </a:ext>
            </a:extLst>
          </p:cNvPr>
          <p:cNvCxnSpPr>
            <a:cxnSpLocks/>
          </p:cNvCxnSpPr>
          <p:nvPr/>
        </p:nvCxnSpPr>
        <p:spPr>
          <a:xfrm flipH="1">
            <a:off x="2197180" y="1188177"/>
            <a:ext cx="744849" cy="1150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5" name="Grupo 1074">
            <a:extLst>
              <a:ext uri="{FF2B5EF4-FFF2-40B4-BE49-F238E27FC236}">
                <a16:creationId xmlns:a16="http://schemas.microsoft.com/office/drawing/2014/main" id="{D167F7B3-60CB-A94E-CC89-7A304D70B7D3}"/>
              </a:ext>
            </a:extLst>
          </p:cNvPr>
          <p:cNvGrpSpPr/>
          <p:nvPr/>
        </p:nvGrpSpPr>
        <p:grpSpPr>
          <a:xfrm>
            <a:off x="596039" y="2491541"/>
            <a:ext cx="1448467" cy="261610"/>
            <a:chOff x="905258" y="1652219"/>
            <a:chExt cx="1448467" cy="261610"/>
          </a:xfrm>
        </p:grpSpPr>
        <p:pic>
          <p:nvPicPr>
            <p:cNvPr id="1073" name="Imagen 1072">
              <a:extLst>
                <a:ext uri="{FF2B5EF4-FFF2-40B4-BE49-F238E27FC236}">
                  <a16:creationId xmlns:a16="http://schemas.microsoft.com/office/drawing/2014/main" id="{59E9EED6-3956-ABB8-E959-B6EAF243C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74" name="CuadroTexto 1073">
              <a:extLst>
                <a:ext uri="{FF2B5EF4-FFF2-40B4-BE49-F238E27FC236}">
                  <a16:creationId xmlns:a16="http://schemas.microsoft.com/office/drawing/2014/main" id="{50F4C2F1-F9F0-D3E3-1881-517F412000E1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Analysis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77" name="Grupo 1076">
            <a:extLst>
              <a:ext uri="{FF2B5EF4-FFF2-40B4-BE49-F238E27FC236}">
                <a16:creationId xmlns:a16="http://schemas.microsoft.com/office/drawing/2014/main" id="{56672B62-1417-A16F-F539-363FA0969BC6}"/>
              </a:ext>
            </a:extLst>
          </p:cNvPr>
          <p:cNvGrpSpPr/>
          <p:nvPr/>
        </p:nvGrpSpPr>
        <p:grpSpPr>
          <a:xfrm>
            <a:off x="600272" y="2923511"/>
            <a:ext cx="1448467" cy="261610"/>
            <a:chOff x="905258" y="1652219"/>
            <a:chExt cx="1448467" cy="261610"/>
          </a:xfrm>
        </p:grpSpPr>
        <p:pic>
          <p:nvPicPr>
            <p:cNvPr id="1078" name="Imagen 1077">
              <a:extLst>
                <a:ext uri="{FF2B5EF4-FFF2-40B4-BE49-F238E27FC236}">
                  <a16:creationId xmlns:a16="http://schemas.microsoft.com/office/drawing/2014/main" id="{874EBBE4-E80B-E422-E77A-080A9DD9B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79" name="CuadroTexto 1078">
              <a:extLst>
                <a:ext uri="{FF2B5EF4-FFF2-40B4-BE49-F238E27FC236}">
                  <a16:creationId xmlns:a16="http://schemas.microsoft.com/office/drawing/2014/main" id="{590796EF-3823-26BE-17A1-D867A46186E2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Visualization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0" name="Grupo 1079">
            <a:extLst>
              <a:ext uri="{FF2B5EF4-FFF2-40B4-BE49-F238E27FC236}">
                <a16:creationId xmlns:a16="http://schemas.microsoft.com/office/drawing/2014/main" id="{742FB0EC-F4BF-D523-BBD1-B5CBFCC7E3B8}"/>
              </a:ext>
            </a:extLst>
          </p:cNvPr>
          <p:cNvGrpSpPr/>
          <p:nvPr/>
        </p:nvGrpSpPr>
        <p:grpSpPr>
          <a:xfrm>
            <a:off x="596039" y="3328985"/>
            <a:ext cx="1448467" cy="261610"/>
            <a:chOff x="905258" y="1652219"/>
            <a:chExt cx="1448467" cy="261610"/>
          </a:xfrm>
        </p:grpSpPr>
        <p:pic>
          <p:nvPicPr>
            <p:cNvPr id="1081" name="Imagen 1080">
              <a:extLst>
                <a:ext uri="{FF2B5EF4-FFF2-40B4-BE49-F238E27FC236}">
                  <a16:creationId xmlns:a16="http://schemas.microsoft.com/office/drawing/2014/main" id="{07F870E4-D96E-4E0E-C723-A443F9673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82" name="CuadroTexto 1081">
              <a:extLst>
                <a:ext uri="{FF2B5EF4-FFF2-40B4-BE49-F238E27FC236}">
                  <a16:creationId xmlns:a16="http://schemas.microsoft.com/office/drawing/2014/main" id="{2A509F6A-EACE-F46E-D448-15778B8B24BC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Litofeochemistry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3" name="Grupo 1082">
            <a:extLst>
              <a:ext uri="{FF2B5EF4-FFF2-40B4-BE49-F238E27FC236}">
                <a16:creationId xmlns:a16="http://schemas.microsoft.com/office/drawing/2014/main" id="{6C3A15CC-3EDE-E85A-1507-4B72D763B91F}"/>
              </a:ext>
            </a:extLst>
          </p:cNvPr>
          <p:cNvGrpSpPr/>
          <p:nvPr/>
        </p:nvGrpSpPr>
        <p:grpSpPr>
          <a:xfrm>
            <a:off x="609600" y="3755781"/>
            <a:ext cx="1628567" cy="253916"/>
            <a:chOff x="905258" y="1652219"/>
            <a:chExt cx="1628567" cy="253916"/>
          </a:xfrm>
        </p:grpSpPr>
        <p:pic>
          <p:nvPicPr>
            <p:cNvPr id="1084" name="Imagen 1083">
              <a:extLst>
                <a:ext uri="{FF2B5EF4-FFF2-40B4-BE49-F238E27FC236}">
                  <a16:creationId xmlns:a16="http://schemas.microsoft.com/office/drawing/2014/main" id="{DD3ED0E5-525C-B5FF-9542-94EE0F7B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85" name="CuadroTexto 1084">
              <a:extLst>
                <a:ext uri="{FF2B5EF4-FFF2-40B4-BE49-F238E27FC236}">
                  <a16:creationId xmlns:a16="http://schemas.microsoft.com/office/drawing/2014/main" id="{061F1D66-83CD-493F-FC98-BBE19B784F61}"/>
                </a:ext>
              </a:extLst>
            </p:cNvPr>
            <p:cNvSpPr txBox="1"/>
            <p:nvPr/>
          </p:nvSpPr>
          <p:spPr>
            <a:xfrm>
              <a:off x="1135058" y="1652219"/>
              <a:ext cx="1398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latin typeface="Arial" panose="020B0604020202020204" pitchFamily="34" charset="0"/>
                  <a:cs typeface="Arial" panose="020B0604020202020204" pitchFamily="34" charset="0"/>
                </a:rPr>
                <a:t>Mineral </a:t>
              </a:r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Exploration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313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A4D3A-E4E6-7409-F420-37D4E015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662106F-B899-33C1-B5C8-D8E94A88E6BE}"/>
              </a:ext>
            </a:extLst>
          </p:cNvPr>
          <p:cNvSpPr/>
          <p:nvPr/>
        </p:nvSpPr>
        <p:spPr>
          <a:xfrm>
            <a:off x="345440" y="782320"/>
            <a:ext cx="2184400" cy="5689600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21092E-E744-F3FB-59F4-FA67019EBCD6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D8F811-ED4F-4818-4EAA-9482473E3AFD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BA4D86E-62BC-5E13-925F-81A035B3FF2A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5F7E3D7-46D5-31CF-DB4E-4F43580C0390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4792023-6DAC-8EC1-96BB-7C90119C367E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F2F2F2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CAB5E13-3A86-A440-EA1D-D6A8C1560D36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D4C30D5-B0B1-607D-2E32-FAF90CC88527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8CED9A3-A2D0-1505-1078-362A5F112BB8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A50ABCA-91AA-9A7E-E791-67893B534143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2EE33B3-BA2B-A17A-D40D-765757F752A0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3166CDB-9B20-31A8-4926-166C919ED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5D21FAC-0E54-3C62-3EE6-236F3FE3C778}"/>
              </a:ext>
            </a:extLst>
          </p:cNvPr>
          <p:cNvSpPr txBox="1"/>
          <p:nvPr/>
        </p:nvSpPr>
        <p:spPr>
          <a:xfrm>
            <a:off x="264298" y="0"/>
            <a:ext cx="272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MODULOS: </a:t>
            </a:r>
            <a:r>
              <a:rPr lang="es-PE" dirty="0" err="1"/>
              <a:t>Geochem</a:t>
            </a:r>
            <a:r>
              <a:rPr lang="es-PE" dirty="0"/>
              <a:t> Pro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F9B658D-D44B-BEBD-95E9-B3974A1F46E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09674" y="2442994"/>
            <a:ext cx="7335586" cy="2124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853D0F2F-B11A-92D3-DEC7-EA4EFA7B17B4}"/>
              </a:ext>
            </a:extLst>
          </p:cNvPr>
          <p:cNvSpPr/>
          <p:nvPr/>
        </p:nvSpPr>
        <p:spPr>
          <a:xfrm>
            <a:off x="447041" y="1966625"/>
            <a:ext cx="2001520" cy="4339064"/>
          </a:xfrm>
          <a:custGeom>
            <a:avLst/>
            <a:gdLst>
              <a:gd name="connsiteX0" fmla="*/ 0 w 1919235"/>
              <a:gd name="connsiteY0" fmla="*/ 0 h 2984361"/>
              <a:gd name="connsiteX1" fmla="*/ 1276141 w 1919235"/>
              <a:gd name="connsiteY1" fmla="*/ 0 h 2984361"/>
              <a:gd name="connsiteX2" fmla="*/ 1276141 w 1919235"/>
              <a:gd name="connsiteY2" fmla="*/ 180871 h 2984361"/>
              <a:gd name="connsiteX3" fmla="*/ 1919235 w 1919235"/>
              <a:gd name="connsiteY3" fmla="*/ 190919 h 2984361"/>
              <a:gd name="connsiteX4" fmla="*/ 1919235 w 1919235"/>
              <a:gd name="connsiteY4" fmla="*/ 2984361 h 2984361"/>
              <a:gd name="connsiteX5" fmla="*/ 0 w 1919235"/>
              <a:gd name="connsiteY5" fmla="*/ 2984361 h 2984361"/>
              <a:gd name="connsiteX6" fmla="*/ 0 w 1919235"/>
              <a:gd name="connsite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191923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8805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9453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554657" h="2984361">
                <a:moveTo>
                  <a:pt x="0" y="0"/>
                </a:moveTo>
                <a:lnTo>
                  <a:pt x="1373400" y="0"/>
                </a:lnTo>
                <a:lnTo>
                  <a:pt x="1373400" y="180871"/>
                </a:lnTo>
                <a:lnTo>
                  <a:pt x="2554657" y="179453"/>
                </a:lnTo>
                <a:cubicBezTo>
                  <a:pt x="2553576" y="1116333"/>
                  <a:pt x="2552496" y="2047481"/>
                  <a:pt x="2551415" y="2984361"/>
                </a:cubicBezTo>
                <a:lnTo>
                  <a:pt x="0" y="2984361"/>
                </a:lnTo>
                <a:lnTo>
                  <a:pt x="0" y="0"/>
                </a:lnTo>
                <a:close/>
              </a:path>
            </a:pathLst>
          </a:custGeom>
          <a:solidFill>
            <a:srgbClr val="E9EAEA"/>
          </a:solidFill>
          <a:ln w="12700">
            <a:solidFill>
              <a:srgbClr val="CDCD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84EEB02-9D1D-65DE-3101-F89ED10D72D8}"/>
              </a:ext>
            </a:extLst>
          </p:cNvPr>
          <p:cNvSpPr txBox="1"/>
          <p:nvPr/>
        </p:nvSpPr>
        <p:spPr>
          <a:xfrm>
            <a:off x="504193" y="2016449"/>
            <a:ext cx="10104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Geochemistry</a:t>
            </a:r>
            <a:endParaRPr lang="es-P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5EC3BB4-EEAD-2AF8-4B87-20A1A7FFC9EE}"/>
              </a:ext>
            </a:extLst>
          </p:cNvPr>
          <p:cNvSpPr/>
          <p:nvPr/>
        </p:nvSpPr>
        <p:spPr>
          <a:xfrm>
            <a:off x="2558288" y="4567217"/>
            <a:ext cx="9267952" cy="1904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E0400E9C-7090-10F0-BC8D-B31B80BF6B3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20262" y="1736208"/>
            <a:ext cx="144000" cy="926795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9618E94-3BBA-8112-EEC1-6411D4E0393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655741" y="4770239"/>
            <a:ext cx="89220" cy="1476000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F909363D-9D40-A5A5-3B05-257170FA8290}"/>
              </a:ext>
            </a:extLst>
          </p:cNvPr>
          <p:cNvSpPr txBox="1"/>
          <p:nvPr/>
        </p:nvSpPr>
        <p:spPr>
          <a:xfrm>
            <a:off x="6078315" y="4887217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Ventana de previsualización de data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1936A27-19C7-FB05-5465-A9B76926D244}"/>
              </a:ext>
            </a:extLst>
          </p:cNvPr>
          <p:cNvSpPr txBox="1"/>
          <p:nvPr/>
        </p:nvSpPr>
        <p:spPr>
          <a:xfrm>
            <a:off x="9019634" y="5119398"/>
            <a:ext cx="2057400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Barras de movimiento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001400F-FF36-02B8-33C4-EC2B96A7612B}"/>
              </a:ext>
            </a:extLst>
          </p:cNvPr>
          <p:cNvCxnSpPr>
            <a:cxnSpLocks/>
          </p:cNvCxnSpPr>
          <p:nvPr/>
        </p:nvCxnSpPr>
        <p:spPr>
          <a:xfrm>
            <a:off x="10630660" y="542525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BDDAE41-17CA-660C-3570-A66BE0EF62AB}"/>
              </a:ext>
            </a:extLst>
          </p:cNvPr>
          <p:cNvCxnSpPr>
            <a:cxnSpLocks/>
          </p:cNvCxnSpPr>
          <p:nvPr/>
        </p:nvCxnSpPr>
        <p:spPr>
          <a:xfrm flipH="1">
            <a:off x="8807488" y="5425259"/>
            <a:ext cx="876094" cy="738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2010953-D224-433B-70CC-209025967577}"/>
              </a:ext>
            </a:extLst>
          </p:cNvPr>
          <p:cNvSpPr txBox="1"/>
          <p:nvPr/>
        </p:nvSpPr>
        <p:spPr>
          <a:xfrm>
            <a:off x="11574462" y="4561006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B6FAF01-3B30-FE37-0E07-D76CAD0C8347}"/>
              </a:ext>
            </a:extLst>
          </p:cNvPr>
          <p:cNvSpPr/>
          <p:nvPr/>
        </p:nvSpPr>
        <p:spPr>
          <a:xfrm>
            <a:off x="11469814" y="4607805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A5A7315-04F3-352C-18A7-7A823F5A2120}"/>
              </a:ext>
            </a:extLst>
          </p:cNvPr>
          <p:cNvSpPr txBox="1"/>
          <p:nvPr/>
        </p:nvSpPr>
        <p:spPr>
          <a:xfrm>
            <a:off x="11210832" y="4541802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-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ABBC7CA-9288-1C8F-501C-F8ABAD7FA865}"/>
              </a:ext>
            </a:extLst>
          </p:cNvPr>
          <p:cNvSpPr txBox="1"/>
          <p:nvPr/>
        </p:nvSpPr>
        <p:spPr>
          <a:xfrm>
            <a:off x="8690852" y="1672731"/>
            <a:ext cx="180188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Herramientas dentro del módulo de “DATA ANALYSIS”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2DBEF472-0A15-E6EB-F422-73D8E4B1634B}"/>
              </a:ext>
            </a:extLst>
          </p:cNvPr>
          <p:cNvCxnSpPr>
            <a:cxnSpLocks/>
          </p:cNvCxnSpPr>
          <p:nvPr/>
        </p:nvCxnSpPr>
        <p:spPr>
          <a:xfrm>
            <a:off x="10187282" y="437710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3" name="CuadroTexto 1052">
            <a:extLst>
              <a:ext uri="{FF2B5EF4-FFF2-40B4-BE49-F238E27FC236}">
                <a16:creationId xmlns:a16="http://schemas.microsoft.com/office/drawing/2014/main" id="{2C43028C-A74C-A764-19DA-DB9A5076A328}"/>
              </a:ext>
            </a:extLst>
          </p:cNvPr>
          <p:cNvSpPr txBox="1"/>
          <p:nvPr/>
        </p:nvSpPr>
        <p:spPr>
          <a:xfrm>
            <a:off x="476038" y="6028796"/>
            <a:ext cx="1482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s-PE" sz="1000" u="sng" dirty="0" err="1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Guide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11C6EF0-17FC-5ABC-2D65-E333EE629201}"/>
              </a:ext>
            </a:extLst>
          </p:cNvPr>
          <p:cNvSpPr/>
          <p:nvPr/>
        </p:nvSpPr>
        <p:spPr>
          <a:xfrm>
            <a:off x="2554563" y="801792"/>
            <a:ext cx="9232500" cy="449487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F34719CE-3EB4-3A74-33E2-D108788F2714}"/>
              </a:ext>
            </a:extLst>
          </p:cNvPr>
          <p:cNvGrpSpPr/>
          <p:nvPr/>
        </p:nvGrpSpPr>
        <p:grpSpPr>
          <a:xfrm>
            <a:off x="632909" y="1070600"/>
            <a:ext cx="1539548" cy="246221"/>
            <a:chOff x="586732" y="1617446"/>
            <a:chExt cx="1539548" cy="246221"/>
          </a:xfrm>
        </p:grpSpPr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C48B7D66-97B6-D750-58F9-3C8B3144C431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1</a:t>
              </a:r>
            </a:p>
          </p:txBody>
        </p:sp>
        <p:pic>
          <p:nvPicPr>
            <p:cNvPr id="1024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9A79F717-32AF-800E-E4A9-696C1349D4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Triángulo isósceles 1024">
              <a:extLst>
                <a:ext uri="{FF2B5EF4-FFF2-40B4-BE49-F238E27FC236}">
                  <a16:creationId xmlns:a16="http://schemas.microsoft.com/office/drawing/2014/main" id="{54A47711-E2A1-1CC3-B0A8-128F9A71C585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040" name="Grupo 1039">
            <a:extLst>
              <a:ext uri="{FF2B5EF4-FFF2-40B4-BE49-F238E27FC236}">
                <a16:creationId xmlns:a16="http://schemas.microsoft.com/office/drawing/2014/main" id="{8B266C5D-1FF4-FCAD-F58D-06B26C3564E1}"/>
              </a:ext>
            </a:extLst>
          </p:cNvPr>
          <p:cNvGrpSpPr/>
          <p:nvPr/>
        </p:nvGrpSpPr>
        <p:grpSpPr>
          <a:xfrm>
            <a:off x="632909" y="1426510"/>
            <a:ext cx="1539548" cy="246221"/>
            <a:chOff x="586732" y="1617446"/>
            <a:chExt cx="1539548" cy="246221"/>
          </a:xfrm>
        </p:grpSpPr>
        <p:sp>
          <p:nvSpPr>
            <p:cNvPr id="1041" name="CuadroTexto 1040">
              <a:extLst>
                <a:ext uri="{FF2B5EF4-FFF2-40B4-BE49-F238E27FC236}">
                  <a16:creationId xmlns:a16="http://schemas.microsoft.com/office/drawing/2014/main" id="{9BBABC0A-A3FC-6107-2FA0-008FCFCFE45C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2</a:t>
              </a:r>
            </a:p>
          </p:txBody>
        </p:sp>
        <p:pic>
          <p:nvPicPr>
            <p:cNvPr id="1042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C594C007-2C39-D401-7BA3-E914175E69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Triángulo isósceles 1042">
              <a:extLst>
                <a:ext uri="{FF2B5EF4-FFF2-40B4-BE49-F238E27FC236}">
                  <a16:creationId xmlns:a16="http://schemas.microsoft.com/office/drawing/2014/main" id="{1C2CA2CC-42C1-7925-E7DF-B0911CB16FA7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3B899B46-F851-AFFF-791A-25BFACC64B26}"/>
              </a:ext>
            </a:extLst>
          </p:cNvPr>
          <p:cNvSpPr/>
          <p:nvPr/>
        </p:nvSpPr>
        <p:spPr>
          <a:xfrm>
            <a:off x="447040" y="2417641"/>
            <a:ext cx="2001519" cy="392405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3D37042-0581-1FE7-76FF-CDA7DE393821}"/>
              </a:ext>
            </a:extLst>
          </p:cNvPr>
          <p:cNvGrpSpPr/>
          <p:nvPr/>
        </p:nvGrpSpPr>
        <p:grpSpPr>
          <a:xfrm>
            <a:off x="596039" y="2491541"/>
            <a:ext cx="1448467" cy="261610"/>
            <a:chOff x="905258" y="1652219"/>
            <a:chExt cx="1448467" cy="26161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1B25D60-BC72-EF5D-F5D8-20AFB3095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1D26FAAB-15B0-AFD3-7911-22E8137B47DF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  <a:r>
                <a:rPr lang="es-PE" sz="10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Analysis</a:t>
              </a:r>
              <a:endParaRPr lang="es-P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A9A450F-C8AB-CFF6-69A2-7213E911C8D2}"/>
              </a:ext>
            </a:extLst>
          </p:cNvPr>
          <p:cNvGrpSpPr/>
          <p:nvPr/>
        </p:nvGrpSpPr>
        <p:grpSpPr>
          <a:xfrm>
            <a:off x="600272" y="2923511"/>
            <a:ext cx="1448467" cy="261610"/>
            <a:chOff x="905258" y="1652219"/>
            <a:chExt cx="1448467" cy="261610"/>
          </a:xfrm>
        </p:grpSpPr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B5DF580E-48F4-88C2-2D26-4A4E06A12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11C06E48-BCA6-59AF-1CF8-CEC361410524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Visualization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77D6EDD-2290-F60E-6CEE-4106316E8720}"/>
              </a:ext>
            </a:extLst>
          </p:cNvPr>
          <p:cNvGrpSpPr/>
          <p:nvPr/>
        </p:nvGrpSpPr>
        <p:grpSpPr>
          <a:xfrm>
            <a:off x="596039" y="3328985"/>
            <a:ext cx="1448467" cy="261610"/>
            <a:chOff x="905258" y="1652219"/>
            <a:chExt cx="1448467" cy="261610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43FCE6AE-9727-E387-DCC3-E38442AD5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E944698-12D3-CBBB-D67E-5EB84D4ACAF3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Litofeochemistry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181DA869-1679-5724-E59E-1BE804399A07}"/>
              </a:ext>
            </a:extLst>
          </p:cNvPr>
          <p:cNvGrpSpPr/>
          <p:nvPr/>
        </p:nvGrpSpPr>
        <p:grpSpPr>
          <a:xfrm>
            <a:off x="609600" y="3755781"/>
            <a:ext cx="1628567" cy="253916"/>
            <a:chOff x="905258" y="1652219"/>
            <a:chExt cx="1628567" cy="253916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410081E7-63CF-2B66-3AD6-75B2C9AE1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A16E8D8B-2471-42B3-187D-07C72C725CF7}"/>
                </a:ext>
              </a:extLst>
            </p:cNvPr>
            <p:cNvSpPr txBox="1"/>
            <p:nvPr/>
          </p:nvSpPr>
          <p:spPr>
            <a:xfrm>
              <a:off x="1135058" y="1652219"/>
              <a:ext cx="1398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latin typeface="Arial" panose="020B0604020202020204" pitchFamily="34" charset="0"/>
                  <a:cs typeface="Arial" panose="020B0604020202020204" pitchFamily="34" charset="0"/>
                </a:rPr>
                <a:t>Mineral </a:t>
              </a:r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Exploration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BA07D039-00CF-173D-13E5-FEB1C2C32E24}"/>
              </a:ext>
            </a:extLst>
          </p:cNvPr>
          <p:cNvCxnSpPr>
            <a:cxnSpLocks/>
          </p:cNvCxnSpPr>
          <p:nvPr/>
        </p:nvCxnSpPr>
        <p:spPr>
          <a:xfrm flipH="1" flipV="1">
            <a:off x="8751637" y="1334501"/>
            <a:ext cx="693284" cy="2962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A311465-963D-C603-ACD1-3852EEF3EE85}"/>
              </a:ext>
            </a:extLst>
          </p:cNvPr>
          <p:cNvSpPr txBox="1"/>
          <p:nvPr/>
        </p:nvSpPr>
        <p:spPr>
          <a:xfrm>
            <a:off x="5675578" y="858081"/>
            <a:ext cx="3422701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Herramientas de cálculo, estadísticas, </a:t>
            </a:r>
            <a:r>
              <a:rPr lang="es-PE" sz="1050" dirty="0" err="1">
                <a:solidFill>
                  <a:srgbClr val="FF0000"/>
                </a:solidFill>
              </a:rPr>
              <a:t>etc</a:t>
            </a:r>
            <a:endParaRPr lang="es-PE" sz="1050" dirty="0">
              <a:solidFill>
                <a:srgbClr val="FF000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144F694-65D4-36DF-9CEA-D6860EA3CD9F}"/>
              </a:ext>
            </a:extLst>
          </p:cNvPr>
          <p:cNvSpPr txBox="1"/>
          <p:nvPr/>
        </p:nvSpPr>
        <p:spPr>
          <a:xfrm>
            <a:off x="3394964" y="2176149"/>
            <a:ext cx="1801888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Módulo: DATA ANALYSIS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CD406179-B9CA-3AE7-E90C-2B965BB84B56}"/>
              </a:ext>
            </a:extLst>
          </p:cNvPr>
          <p:cNvCxnSpPr>
            <a:cxnSpLocks/>
          </p:cNvCxnSpPr>
          <p:nvPr/>
        </p:nvCxnSpPr>
        <p:spPr>
          <a:xfrm flipH="1">
            <a:off x="2632822" y="2442994"/>
            <a:ext cx="649321" cy="1743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49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3571-D76E-2A01-4A49-F579EF43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3C3673A-F981-D847-7FBB-5BC98636E863}"/>
              </a:ext>
            </a:extLst>
          </p:cNvPr>
          <p:cNvSpPr/>
          <p:nvPr/>
        </p:nvSpPr>
        <p:spPr>
          <a:xfrm>
            <a:off x="345440" y="782320"/>
            <a:ext cx="2184400" cy="5689600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A17770-0846-EE15-3BE3-2D6D336C78D9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BB43FB0-6F3D-8147-D516-525E872245AD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194A30D-734D-EBEA-F21D-0A3D6D5E877A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2E40916-D456-784D-9A58-0EED4AD8A206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3F542BB-6F16-DE3E-FD35-2271DD3EB7AF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F2F2F2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822DF93-EF28-F04B-369A-F5A3701B17C7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4FB3E63-71E0-DC30-EB2C-E3ADF9CD1BA1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68079E9-50FA-3F5E-2967-DC75FE9C62C6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0D0A37B-8FA4-4D1E-DEE2-BE12C4C22D33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1E44E3A-78B3-EA97-A228-564C355C2EA0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4ABC1A21-C29F-062D-82C3-47E1DF491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A800C78-2B3D-1CFF-7644-2637BF036FF9}"/>
              </a:ext>
            </a:extLst>
          </p:cNvPr>
          <p:cNvSpPr txBox="1"/>
          <p:nvPr/>
        </p:nvSpPr>
        <p:spPr>
          <a:xfrm>
            <a:off x="264298" y="0"/>
            <a:ext cx="272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MODULOS: </a:t>
            </a:r>
            <a:r>
              <a:rPr lang="es-PE" dirty="0" err="1"/>
              <a:t>Geochem</a:t>
            </a:r>
            <a:r>
              <a:rPr lang="es-PE" dirty="0"/>
              <a:t> Pro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A34E642-8B28-5681-825D-52D5887F93A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09674" y="2442994"/>
            <a:ext cx="7335586" cy="2124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01DB0447-2FE4-EA53-079C-70FE9383D488}"/>
              </a:ext>
            </a:extLst>
          </p:cNvPr>
          <p:cNvSpPr/>
          <p:nvPr/>
        </p:nvSpPr>
        <p:spPr>
          <a:xfrm>
            <a:off x="447041" y="1966625"/>
            <a:ext cx="2001520" cy="4339064"/>
          </a:xfrm>
          <a:custGeom>
            <a:avLst/>
            <a:gdLst>
              <a:gd name="connsiteX0" fmla="*/ 0 w 1919235"/>
              <a:gd name="connsiteY0" fmla="*/ 0 h 2984361"/>
              <a:gd name="connsiteX1" fmla="*/ 1276141 w 1919235"/>
              <a:gd name="connsiteY1" fmla="*/ 0 h 2984361"/>
              <a:gd name="connsiteX2" fmla="*/ 1276141 w 1919235"/>
              <a:gd name="connsiteY2" fmla="*/ 180871 h 2984361"/>
              <a:gd name="connsiteX3" fmla="*/ 1919235 w 1919235"/>
              <a:gd name="connsiteY3" fmla="*/ 190919 h 2984361"/>
              <a:gd name="connsiteX4" fmla="*/ 1919235 w 1919235"/>
              <a:gd name="connsiteY4" fmla="*/ 2984361 h 2984361"/>
              <a:gd name="connsiteX5" fmla="*/ 0 w 1919235"/>
              <a:gd name="connsiteY5" fmla="*/ 2984361 h 2984361"/>
              <a:gd name="connsiteX6" fmla="*/ 0 w 1919235"/>
              <a:gd name="connsite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191923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8805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9453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554657" h="2984361">
                <a:moveTo>
                  <a:pt x="0" y="0"/>
                </a:moveTo>
                <a:lnTo>
                  <a:pt x="1373400" y="0"/>
                </a:lnTo>
                <a:lnTo>
                  <a:pt x="1373400" y="180871"/>
                </a:lnTo>
                <a:lnTo>
                  <a:pt x="2554657" y="179453"/>
                </a:lnTo>
                <a:cubicBezTo>
                  <a:pt x="2553576" y="1116333"/>
                  <a:pt x="2552496" y="2047481"/>
                  <a:pt x="2551415" y="2984361"/>
                </a:cubicBezTo>
                <a:lnTo>
                  <a:pt x="0" y="2984361"/>
                </a:lnTo>
                <a:lnTo>
                  <a:pt x="0" y="0"/>
                </a:lnTo>
                <a:close/>
              </a:path>
            </a:pathLst>
          </a:custGeom>
          <a:solidFill>
            <a:srgbClr val="E9EAEA"/>
          </a:solidFill>
          <a:ln w="12700">
            <a:solidFill>
              <a:srgbClr val="CDCD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ADBEA5E-2A75-CD23-6F25-C270A08420AD}"/>
              </a:ext>
            </a:extLst>
          </p:cNvPr>
          <p:cNvSpPr txBox="1"/>
          <p:nvPr/>
        </p:nvSpPr>
        <p:spPr>
          <a:xfrm>
            <a:off x="504193" y="2016449"/>
            <a:ext cx="10104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Geochemistry</a:t>
            </a:r>
            <a:endParaRPr lang="es-P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B0ED1D0-C5F1-7337-8248-D5402D3B6029}"/>
              </a:ext>
            </a:extLst>
          </p:cNvPr>
          <p:cNvSpPr/>
          <p:nvPr/>
        </p:nvSpPr>
        <p:spPr>
          <a:xfrm>
            <a:off x="2558288" y="4567217"/>
            <a:ext cx="9267952" cy="1904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C0015661-74E4-6450-B23A-249093F2090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20262" y="1736208"/>
            <a:ext cx="144000" cy="926795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A1E41833-F1EA-6A28-12DA-BC3BE430D21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655741" y="4770239"/>
            <a:ext cx="89220" cy="1476000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937EE11B-8E4C-F007-33CC-57227DE4C986}"/>
              </a:ext>
            </a:extLst>
          </p:cNvPr>
          <p:cNvSpPr txBox="1"/>
          <p:nvPr/>
        </p:nvSpPr>
        <p:spPr>
          <a:xfrm>
            <a:off x="6078315" y="4887217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Ventana de previsualización de data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019F7B7-D7DA-9EB1-C38A-3EF932774CE1}"/>
              </a:ext>
            </a:extLst>
          </p:cNvPr>
          <p:cNvSpPr txBox="1"/>
          <p:nvPr/>
        </p:nvSpPr>
        <p:spPr>
          <a:xfrm>
            <a:off x="9019634" y="5119398"/>
            <a:ext cx="2057400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Barras de movimiento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7137FBF8-43C2-7A7D-BDA9-D002C81E1C52}"/>
              </a:ext>
            </a:extLst>
          </p:cNvPr>
          <p:cNvCxnSpPr>
            <a:cxnSpLocks/>
          </p:cNvCxnSpPr>
          <p:nvPr/>
        </p:nvCxnSpPr>
        <p:spPr>
          <a:xfrm>
            <a:off x="10630660" y="542525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930C130-5B97-4F45-3FB9-4BF793E2177D}"/>
              </a:ext>
            </a:extLst>
          </p:cNvPr>
          <p:cNvCxnSpPr>
            <a:cxnSpLocks/>
          </p:cNvCxnSpPr>
          <p:nvPr/>
        </p:nvCxnSpPr>
        <p:spPr>
          <a:xfrm flipH="1">
            <a:off x="8807488" y="5425259"/>
            <a:ext cx="876094" cy="738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257C847-F4CB-DEDB-BFC0-4E782677A8DD}"/>
              </a:ext>
            </a:extLst>
          </p:cNvPr>
          <p:cNvSpPr txBox="1"/>
          <p:nvPr/>
        </p:nvSpPr>
        <p:spPr>
          <a:xfrm>
            <a:off x="11574462" y="4561006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2FFA777-ED3F-EF55-477D-F475CB064F45}"/>
              </a:ext>
            </a:extLst>
          </p:cNvPr>
          <p:cNvSpPr/>
          <p:nvPr/>
        </p:nvSpPr>
        <p:spPr>
          <a:xfrm>
            <a:off x="11469814" y="4607805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C9F8F74-466B-EB56-D288-FE7D73D7CCFB}"/>
              </a:ext>
            </a:extLst>
          </p:cNvPr>
          <p:cNvSpPr txBox="1"/>
          <p:nvPr/>
        </p:nvSpPr>
        <p:spPr>
          <a:xfrm>
            <a:off x="11210832" y="4541802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-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F2117CB-DB07-66F6-E7DE-C718531AABC9}"/>
              </a:ext>
            </a:extLst>
          </p:cNvPr>
          <p:cNvSpPr txBox="1"/>
          <p:nvPr/>
        </p:nvSpPr>
        <p:spPr>
          <a:xfrm>
            <a:off x="8690852" y="1672731"/>
            <a:ext cx="180188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Herramientas dentro del módulo de “VISUALIZATION”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733EB14-4CCD-7EBB-F60E-6213E71A92D6}"/>
              </a:ext>
            </a:extLst>
          </p:cNvPr>
          <p:cNvCxnSpPr>
            <a:cxnSpLocks/>
          </p:cNvCxnSpPr>
          <p:nvPr/>
        </p:nvCxnSpPr>
        <p:spPr>
          <a:xfrm>
            <a:off x="10187282" y="437710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3" name="CuadroTexto 1052">
            <a:extLst>
              <a:ext uri="{FF2B5EF4-FFF2-40B4-BE49-F238E27FC236}">
                <a16:creationId xmlns:a16="http://schemas.microsoft.com/office/drawing/2014/main" id="{351A7EFC-17FD-A8CF-1197-59E235C01ACB}"/>
              </a:ext>
            </a:extLst>
          </p:cNvPr>
          <p:cNvSpPr txBox="1"/>
          <p:nvPr/>
        </p:nvSpPr>
        <p:spPr>
          <a:xfrm>
            <a:off x="476038" y="6028796"/>
            <a:ext cx="1482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s-PE" sz="1000" u="sng" dirty="0" err="1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Guide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FA30C5-3DC7-F4DD-1E43-9D7684801AA3}"/>
              </a:ext>
            </a:extLst>
          </p:cNvPr>
          <p:cNvSpPr/>
          <p:nvPr/>
        </p:nvSpPr>
        <p:spPr>
          <a:xfrm>
            <a:off x="2554563" y="801792"/>
            <a:ext cx="9232500" cy="449487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3EABAA9E-7EE8-3C24-EA7C-15D63095CBED}"/>
              </a:ext>
            </a:extLst>
          </p:cNvPr>
          <p:cNvGrpSpPr/>
          <p:nvPr/>
        </p:nvGrpSpPr>
        <p:grpSpPr>
          <a:xfrm>
            <a:off x="632909" y="1070600"/>
            <a:ext cx="1539548" cy="246221"/>
            <a:chOff x="586732" y="1617446"/>
            <a:chExt cx="1539548" cy="246221"/>
          </a:xfrm>
        </p:grpSpPr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FB70455C-043B-7D15-66B0-8270ACE0A782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1</a:t>
              </a:r>
            </a:p>
          </p:txBody>
        </p:sp>
        <p:pic>
          <p:nvPicPr>
            <p:cNvPr id="1024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24025DE1-9C34-4B42-AE99-47D3D9344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Triángulo isósceles 1024">
              <a:extLst>
                <a:ext uri="{FF2B5EF4-FFF2-40B4-BE49-F238E27FC236}">
                  <a16:creationId xmlns:a16="http://schemas.microsoft.com/office/drawing/2014/main" id="{96BC9704-2CFC-EB32-537A-07BCB42AAA51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040" name="Grupo 1039">
            <a:extLst>
              <a:ext uri="{FF2B5EF4-FFF2-40B4-BE49-F238E27FC236}">
                <a16:creationId xmlns:a16="http://schemas.microsoft.com/office/drawing/2014/main" id="{E729E8D0-F8E7-FB90-2823-5ECC7CAC9860}"/>
              </a:ext>
            </a:extLst>
          </p:cNvPr>
          <p:cNvGrpSpPr/>
          <p:nvPr/>
        </p:nvGrpSpPr>
        <p:grpSpPr>
          <a:xfrm>
            <a:off x="632909" y="1426510"/>
            <a:ext cx="1539548" cy="246221"/>
            <a:chOff x="586732" y="1617446"/>
            <a:chExt cx="1539548" cy="246221"/>
          </a:xfrm>
        </p:grpSpPr>
        <p:sp>
          <p:nvSpPr>
            <p:cNvPr id="1041" name="CuadroTexto 1040">
              <a:extLst>
                <a:ext uri="{FF2B5EF4-FFF2-40B4-BE49-F238E27FC236}">
                  <a16:creationId xmlns:a16="http://schemas.microsoft.com/office/drawing/2014/main" id="{06EACF65-E5ED-3422-5C3D-E518F2C76344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2</a:t>
              </a:r>
            </a:p>
          </p:txBody>
        </p:sp>
        <p:pic>
          <p:nvPicPr>
            <p:cNvPr id="1042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6E22E9A0-97E6-446C-3EEE-FAA90858B3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Triángulo isósceles 1042">
              <a:extLst>
                <a:ext uri="{FF2B5EF4-FFF2-40B4-BE49-F238E27FC236}">
                  <a16:creationId xmlns:a16="http://schemas.microsoft.com/office/drawing/2014/main" id="{53004435-BF2C-5649-AEB8-A3D39CA61243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003E808D-7E8E-900A-9D5D-F5A022670CFE}"/>
              </a:ext>
            </a:extLst>
          </p:cNvPr>
          <p:cNvSpPr/>
          <p:nvPr/>
        </p:nvSpPr>
        <p:spPr>
          <a:xfrm>
            <a:off x="447040" y="2859601"/>
            <a:ext cx="2001519" cy="392405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D1364AA-7E90-B05F-CB9A-571DE46F7010}"/>
              </a:ext>
            </a:extLst>
          </p:cNvPr>
          <p:cNvGrpSpPr/>
          <p:nvPr/>
        </p:nvGrpSpPr>
        <p:grpSpPr>
          <a:xfrm>
            <a:off x="596039" y="2491541"/>
            <a:ext cx="1448467" cy="261610"/>
            <a:chOff x="905258" y="1652219"/>
            <a:chExt cx="1448467" cy="26161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999C740-88E2-79A1-32C2-3F92429B6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27FE4E2-01FF-0589-BC34-DA4E876744E3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Analysis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45B1A53-2781-3931-65FD-236161F8342D}"/>
              </a:ext>
            </a:extLst>
          </p:cNvPr>
          <p:cNvGrpSpPr/>
          <p:nvPr/>
        </p:nvGrpSpPr>
        <p:grpSpPr>
          <a:xfrm>
            <a:off x="600272" y="2923511"/>
            <a:ext cx="1448467" cy="261610"/>
            <a:chOff x="905258" y="1652219"/>
            <a:chExt cx="1448467" cy="261610"/>
          </a:xfrm>
        </p:grpSpPr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3B221F9D-0DEE-45DA-B1BF-EA565903B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8A1D7524-C0A5-0225-3CFF-F25A37552A7B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Visualization</a:t>
              </a:r>
              <a:endParaRPr lang="es-P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4D4ABA5-0956-7505-BCC4-5E42BEC9FC14}"/>
              </a:ext>
            </a:extLst>
          </p:cNvPr>
          <p:cNvGrpSpPr/>
          <p:nvPr/>
        </p:nvGrpSpPr>
        <p:grpSpPr>
          <a:xfrm>
            <a:off x="596039" y="3328985"/>
            <a:ext cx="1448467" cy="261610"/>
            <a:chOff x="905258" y="1652219"/>
            <a:chExt cx="1448467" cy="261610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7E0B61AC-5FF2-EA14-B70C-2EA10145F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0421B3C-C8A3-30FA-5259-D39591652F2F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Litofeochemistry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4D407293-727E-CFDF-D4FA-176931A2652A}"/>
              </a:ext>
            </a:extLst>
          </p:cNvPr>
          <p:cNvGrpSpPr/>
          <p:nvPr/>
        </p:nvGrpSpPr>
        <p:grpSpPr>
          <a:xfrm>
            <a:off x="609600" y="3755781"/>
            <a:ext cx="1628567" cy="253916"/>
            <a:chOff x="905258" y="1652219"/>
            <a:chExt cx="1628567" cy="253916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84801E25-4269-7699-286C-ECA69C112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C55304EF-B9E2-2E01-8468-D6C8AD74B69A}"/>
                </a:ext>
              </a:extLst>
            </p:cNvPr>
            <p:cNvSpPr txBox="1"/>
            <p:nvPr/>
          </p:nvSpPr>
          <p:spPr>
            <a:xfrm>
              <a:off x="1135058" y="1652219"/>
              <a:ext cx="1398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latin typeface="Arial" panose="020B0604020202020204" pitchFamily="34" charset="0"/>
                  <a:cs typeface="Arial" panose="020B0604020202020204" pitchFamily="34" charset="0"/>
                </a:rPr>
                <a:t>Mineral </a:t>
              </a:r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Exploration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FBCF1230-74B9-8CDA-3419-B2D547C31EA4}"/>
              </a:ext>
            </a:extLst>
          </p:cNvPr>
          <p:cNvCxnSpPr>
            <a:cxnSpLocks/>
          </p:cNvCxnSpPr>
          <p:nvPr/>
        </p:nvCxnSpPr>
        <p:spPr>
          <a:xfrm flipH="1" flipV="1">
            <a:off x="8751637" y="1334501"/>
            <a:ext cx="693284" cy="2962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FD893F8-1831-75F6-7E0B-F3238E25F11A}"/>
              </a:ext>
            </a:extLst>
          </p:cNvPr>
          <p:cNvSpPr txBox="1"/>
          <p:nvPr/>
        </p:nvSpPr>
        <p:spPr>
          <a:xfrm>
            <a:off x="5675578" y="858081"/>
            <a:ext cx="3422701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Herramientas de gráficos, diagramas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BCC6C15-E392-A5A7-F19D-412AAD3C9400}"/>
              </a:ext>
            </a:extLst>
          </p:cNvPr>
          <p:cNvSpPr txBox="1"/>
          <p:nvPr/>
        </p:nvSpPr>
        <p:spPr>
          <a:xfrm>
            <a:off x="2624068" y="2558676"/>
            <a:ext cx="1801888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Módulo: </a:t>
            </a:r>
            <a:r>
              <a:rPr lang="es-PE" sz="1050" dirty="0" err="1">
                <a:solidFill>
                  <a:srgbClr val="FF0000"/>
                </a:solidFill>
              </a:rPr>
              <a:t>visualization</a:t>
            </a:r>
            <a:endParaRPr lang="es-PE" sz="1050" dirty="0">
              <a:solidFill>
                <a:srgbClr val="FF0000"/>
              </a:solidFill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EF6072B2-085F-36E8-D826-4954DA39DB9F}"/>
              </a:ext>
            </a:extLst>
          </p:cNvPr>
          <p:cNvCxnSpPr>
            <a:cxnSpLocks/>
          </p:cNvCxnSpPr>
          <p:nvPr/>
        </p:nvCxnSpPr>
        <p:spPr>
          <a:xfrm flipH="1">
            <a:off x="2601790" y="2880003"/>
            <a:ext cx="649321" cy="1743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61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199F-8A68-5E56-4C61-F1E5266D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B09B25D-B700-6368-A188-EB1CB2680C1F}"/>
              </a:ext>
            </a:extLst>
          </p:cNvPr>
          <p:cNvSpPr/>
          <p:nvPr/>
        </p:nvSpPr>
        <p:spPr>
          <a:xfrm>
            <a:off x="345440" y="782320"/>
            <a:ext cx="2184400" cy="5689600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468F75-4B6E-9E75-6ABE-206E12057D0F}"/>
              </a:ext>
            </a:extLst>
          </p:cNvPr>
          <p:cNvSpPr/>
          <p:nvPr/>
        </p:nvSpPr>
        <p:spPr>
          <a:xfrm>
            <a:off x="345440" y="375920"/>
            <a:ext cx="11490960" cy="40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0E29191-5BE3-DCB0-3C70-4247AC97AFA5}"/>
              </a:ext>
            </a:extLst>
          </p:cNvPr>
          <p:cNvSpPr/>
          <p:nvPr/>
        </p:nvSpPr>
        <p:spPr>
          <a:xfrm>
            <a:off x="345440" y="375920"/>
            <a:ext cx="11480800" cy="6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51530C-805E-AC65-AB09-B792EC8F27FC}"/>
              </a:ext>
            </a:extLst>
          </p:cNvPr>
          <p:cNvSpPr/>
          <p:nvPr/>
        </p:nvSpPr>
        <p:spPr>
          <a:xfrm>
            <a:off x="345440" y="579120"/>
            <a:ext cx="528320" cy="203200"/>
          </a:xfrm>
          <a:prstGeom prst="rect">
            <a:avLst/>
          </a:prstGeom>
          <a:solidFill>
            <a:srgbClr val="21BAA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56A5AB7-504B-4D5A-79F4-27B4B8BA4240}"/>
              </a:ext>
            </a:extLst>
          </p:cNvPr>
          <p:cNvSpPr txBox="1"/>
          <p:nvPr/>
        </p:nvSpPr>
        <p:spPr>
          <a:xfrm>
            <a:off x="373888" y="558661"/>
            <a:ext cx="430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DD0C9CF-0F3B-9825-5B9B-55BF3D4A7AC3}"/>
              </a:ext>
            </a:extLst>
          </p:cNvPr>
          <p:cNvSpPr/>
          <p:nvPr/>
        </p:nvSpPr>
        <p:spPr>
          <a:xfrm>
            <a:off x="873760" y="579120"/>
            <a:ext cx="726440" cy="203200"/>
          </a:xfrm>
          <a:prstGeom prst="rect">
            <a:avLst/>
          </a:prstGeom>
          <a:solidFill>
            <a:srgbClr val="F2F2F2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72D2E22-DB88-B9EF-15E4-B92DF30450F2}"/>
              </a:ext>
            </a:extLst>
          </p:cNvPr>
          <p:cNvSpPr txBox="1"/>
          <p:nvPr/>
        </p:nvSpPr>
        <p:spPr>
          <a:xfrm>
            <a:off x="974344" y="563741"/>
            <a:ext cx="52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66AE600-12AE-2A86-E185-0A6B390919B7}"/>
              </a:ext>
            </a:extLst>
          </p:cNvPr>
          <p:cNvSpPr/>
          <p:nvPr/>
        </p:nvSpPr>
        <p:spPr>
          <a:xfrm>
            <a:off x="1591564" y="579120"/>
            <a:ext cx="966724" cy="203200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8B7636B-8DD4-432B-DF07-1E83992A4FD7}"/>
              </a:ext>
            </a:extLst>
          </p:cNvPr>
          <p:cNvSpPr txBox="1"/>
          <p:nvPr/>
        </p:nvSpPr>
        <p:spPr>
          <a:xfrm>
            <a:off x="1689100" y="552311"/>
            <a:ext cx="799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33EDCD7-99D4-EA99-993F-3A60E3CDE128}"/>
              </a:ext>
            </a:extLst>
          </p:cNvPr>
          <p:cNvSpPr/>
          <p:nvPr/>
        </p:nvSpPr>
        <p:spPr>
          <a:xfrm>
            <a:off x="2558288" y="579120"/>
            <a:ext cx="966724" cy="203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80326BF-A9D0-2B9D-A940-E60D22896C82}"/>
              </a:ext>
            </a:extLst>
          </p:cNvPr>
          <p:cNvSpPr txBox="1"/>
          <p:nvPr/>
        </p:nvSpPr>
        <p:spPr>
          <a:xfrm>
            <a:off x="2760980" y="548570"/>
            <a:ext cx="633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4BF71F1-CB1D-7705-6A9F-D578D56F2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436" y="499102"/>
            <a:ext cx="1121870" cy="161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0B715E-1DAA-ACE7-F187-2717D5FD2F27}"/>
              </a:ext>
            </a:extLst>
          </p:cNvPr>
          <p:cNvSpPr txBox="1"/>
          <p:nvPr/>
        </p:nvSpPr>
        <p:spPr>
          <a:xfrm>
            <a:off x="264298" y="0"/>
            <a:ext cx="272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MODULOS: </a:t>
            </a:r>
            <a:r>
              <a:rPr lang="es-PE" dirty="0" err="1"/>
              <a:t>Geochem</a:t>
            </a:r>
            <a:r>
              <a:rPr lang="es-PE" dirty="0"/>
              <a:t> Pro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7DBA10D-7A58-4BF4-B92B-ACBFB40DDC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809674" y="2442994"/>
            <a:ext cx="7335586" cy="2124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6DCA53CE-6F6B-5036-0D6E-3359E189B4CB}"/>
              </a:ext>
            </a:extLst>
          </p:cNvPr>
          <p:cNvSpPr/>
          <p:nvPr/>
        </p:nvSpPr>
        <p:spPr>
          <a:xfrm>
            <a:off x="447041" y="1966625"/>
            <a:ext cx="2001520" cy="4339064"/>
          </a:xfrm>
          <a:custGeom>
            <a:avLst/>
            <a:gdLst>
              <a:gd name="connsiteX0" fmla="*/ 0 w 1919235"/>
              <a:gd name="connsiteY0" fmla="*/ 0 h 2984361"/>
              <a:gd name="connsiteX1" fmla="*/ 1276141 w 1919235"/>
              <a:gd name="connsiteY1" fmla="*/ 0 h 2984361"/>
              <a:gd name="connsiteX2" fmla="*/ 1276141 w 1919235"/>
              <a:gd name="connsiteY2" fmla="*/ 180871 h 2984361"/>
              <a:gd name="connsiteX3" fmla="*/ 1919235 w 1919235"/>
              <a:gd name="connsiteY3" fmla="*/ 190919 h 2984361"/>
              <a:gd name="connsiteX4" fmla="*/ 1919235 w 1919235"/>
              <a:gd name="connsiteY4" fmla="*/ 2984361 h 2984361"/>
              <a:gd name="connsiteX5" fmla="*/ 0 w 1919235"/>
              <a:gd name="connsiteY5" fmla="*/ 2984361 h 2984361"/>
              <a:gd name="connsiteX6" fmla="*/ 0 w 1919235"/>
              <a:gd name="connsite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191923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276141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276141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47464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372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88052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  <a:gd name="csX0" fmla="*/ 0 w 2554657"/>
              <a:gd name="csY0" fmla="*/ 0 h 2984361"/>
              <a:gd name="csX1" fmla="*/ 1373400 w 2554657"/>
              <a:gd name="csY1" fmla="*/ 0 h 2984361"/>
              <a:gd name="csX2" fmla="*/ 1373400 w 2554657"/>
              <a:gd name="csY2" fmla="*/ 180871 h 2984361"/>
              <a:gd name="csX3" fmla="*/ 2554657 w 2554657"/>
              <a:gd name="csY3" fmla="*/ 179453 h 2984361"/>
              <a:gd name="csX4" fmla="*/ 2551415 w 2554657"/>
              <a:gd name="csY4" fmla="*/ 2984361 h 2984361"/>
              <a:gd name="csX5" fmla="*/ 0 w 2554657"/>
              <a:gd name="csY5" fmla="*/ 2984361 h 2984361"/>
              <a:gd name="csX6" fmla="*/ 0 w 2554657"/>
              <a:gd name="csY6" fmla="*/ 0 h 2984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554657" h="2984361">
                <a:moveTo>
                  <a:pt x="0" y="0"/>
                </a:moveTo>
                <a:lnTo>
                  <a:pt x="1373400" y="0"/>
                </a:lnTo>
                <a:lnTo>
                  <a:pt x="1373400" y="180871"/>
                </a:lnTo>
                <a:lnTo>
                  <a:pt x="2554657" y="179453"/>
                </a:lnTo>
                <a:cubicBezTo>
                  <a:pt x="2553576" y="1116333"/>
                  <a:pt x="2552496" y="2047481"/>
                  <a:pt x="2551415" y="2984361"/>
                </a:cubicBezTo>
                <a:lnTo>
                  <a:pt x="0" y="2984361"/>
                </a:lnTo>
                <a:lnTo>
                  <a:pt x="0" y="0"/>
                </a:lnTo>
                <a:close/>
              </a:path>
            </a:pathLst>
          </a:custGeom>
          <a:solidFill>
            <a:srgbClr val="E9EAEA"/>
          </a:solidFill>
          <a:ln w="12700">
            <a:solidFill>
              <a:srgbClr val="CDCD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8600691-D5C6-79D0-34E2-1004990C00DB}"/>
              </a:ext>
            </a:extLst>
          </p:cNvPr>
          <p:cNvSpPr txBox="1"/>
          <p:nvPr/>
        </p:nvSpPr>
        <p:spPr>
          <a:xfrm>
            <a:off x="504193" y="2016449"/>
            <a:ext cx="10104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Geochemistry</a:t>
            </a:r>
            <a:endParaRPr lang="es-P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C141DFF-5992-145F-4245-3445CE9C3A36}"/>
              </a:ext>
            </a:extLst>
          </p:cNvPr>
          <p:cNvSpPr/>
          <p:nvPr/>
        </p:nvSpPr>
        <p:spPr>
          <a:xfrm>
            <a:off x="2558288" y="4567217"/>
            <a:ext cx="9267952" cy="1904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A72BB5D4-08E6-91DD-259A-1E7EA4B3A91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20262" y="1736208"/>
            <a:ext cx="144000" cy="926795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89DB1BEB-49B4-E796-9417-32F5CEADB46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655741" y="4770239"/>
            <a:ext cx="89220" cy="1476000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44C34F6-B710-855D-5E6E-4D0C7958AE65}"/>
              </a:ext>
            </a:extLst>
          </p:cNvPr>
          <p:cNvSpPr txBox="1"/>
          <p:nvPr/>
        </p:nvSpPr>
        <p:spPr>
          <a:xfrm>
            <a:off x="6078315" y="4887217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Ventana de previsualización de data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1663774-69AD-0276-A17A-BE5D834F7C9B}"/>
              </a:ext>
            </a:extLst>
          </p:cNvPr>
          <p:cNvSpPr txBox="1"/>
          <p:nvPr/>
        </p:nvSpPr>
        <p:spPr>
          <a:xfrm>
            <a:off x="9019634" y="5119398"/>
            <a:ext cx="2057400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Barras de movimiento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9B07BEA3-275D-3E59-8BEE-E5942D7296E5}"/>
              </a:ext>
            </a:extLst>
          </p:cNvPr>
          <p:cNvCxnSpPr>
            <a:cxnSpLocks/>
          </p:cNvCxnSpPr>
          <p:nvPr/>
        </p:nvCxnSpPr>
        <p:spPr>
          <a:xfrm>
            <a:off x="10630660" y="542525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ED2365D-61C0-60B9-8B83-FDAC53B545B4}"/>
              </a:ext>
            </a:extLst>
          </p:cNvPr>
          <p:cNvCxnSpPr>
            <a:cxnSpLocks/>
          </p:cNvCxnSpPr>
          <p:nvPr/>
        </p:nvCxnSpPr>
        <p:spPr>
          <a:xfrm flipH="1">
            <a:off x="8807488" y="5425259"/>
            <a:ext cx="876094" cy="738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1619DF5-AA21-02E5-08DE-C9DB18BCB774}"/>
              </a:ext>
            </a:extLst>
          </p:cNvPr>
          <p:cNvSpPr txBox="1"/>
          <p:nvPr/>
        </p:nvSpPr>
        <p:spPr>
          <a:xfrm>
            <a:off x="11574462" y="4561006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69955A58-28B4-8AC0-0917-FF936C6B4CCB}"/>
              </a:ext>
            </a:extLst>
          </p:cNvPr>
          <p:cNvSpPr/>
          <p:nvPr/>
        </p:nvSpPr>
        <p:spPr>
          <a:xfrm>
            <a:off x="11469814" y="4607805"/>
            <a:ext cx="76200" cy="8343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29F1961-C463-65E8-24E2-ABFB821D57DE}"/>
              </a:ext>
            </a:extLst>
          </p:cNvPr>
          <p:cNvSpPr txBox="1"/>
          <p:nvPr/>
        </p:nvSpPr>
        <p:spPr>
          <a:xfrm>
            <a:off x="11210832" y="4541802"/>
            <a:ext cx="20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" b="1" dirty="0">
                <a:solidFill>
                  <a:schemeClr val="bg2">
                    <a:lumMod val="75000"/>
                  </a:schemeClr>
                </a:solidFill>
              </a:rPr>
              <a:t>-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7F1EF1D-2B86-5F7E-1CB5-D1EFD571F636}"/>
              </a:ext>
            </a:extLst>
          </p:cNvPr>
          <p:cNvSpPr txBox="1"/>
          <p:nvPr/>
        </p:nvSpPr>
        <p:spPr>
          <a:xfrm>
            <a:off x="8690852" y="1672731"/>
            <a:ext cx="180188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Herramientas dentro del módulo de “LITHOGEOCHEMISTRY”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F646EF33-165E-27F2-B284-EDF0CBD83B96}"/>
              </a:ext>
            </a:extLst>
          </p:cNvPr>
          <p:cNvCxnSpPr>
            <a:cxnSpLocks/>
          </p:cNvCxnSpPr>
          <p:nvPr/>
        </p:nvCxnSpPr>
        <p:spPr>
          <a:xfrm>
            <a:off x="10187282" y="4377109"/>
            <a:ext cx="943802" cy="29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3" name="CuadroTexto 1052">
            <a:extLst>
              <a:ext uri="{FF2B5EF4-FFF2-40B4-BE49-F238E27FC236}">
                <a16:creationId xmlns:a16="http://schemas.microsoft.com/office/drawing/2014/main" id="{DE727FAD-12DF-26D1-1770-1EF745E55395}"/>
              </a:ext>
            </a:extLst>
          </p:cNvPr>
          <p:cNvSpPr txBox="1"/>
          <p:nvPr/>
        </p:nvSpPr>
        <p:spPr>
          <a:xfrm>
            <a:off x="476038" y="6028796"/>
            <a:ext cx="1482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s-PE" sz="1000" u="sng" dirty="0" err="1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r>
              <a:rPr lang="es-PE" sz="1000" u="sng" dirty="0">
                <a:solidFill>
                  <a:srgbClr val="4E4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Guide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AA1D098-649B-30D1-AB89-265B69F103D3}"/>
              </a:ext>
            </a:extLst>
          </p:cNvPr>
          <p:cNvSpPr/>
          <p:nvPr/>
        </p:nvSpPr>
        <p:spPr>
          <a:xfrm>
            <a:off x="2554563" y="801792"/>
            <a:ext cx="9232500" cy="449487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3D12CA25-2563-7CD4-D2BC-A7C4640E34F7}"/>
              </a:ext>
            </a:extLst>
          </p:cNvPr>
          <p:cNvGrpSpPr/>
          <p:nvPr/>
        </p:nvGrpSpPr>
        <p:grpSpPr>
          <a:xfrm>
            <a:off x="632909" y="1070600"/>
            <a:ext cx="1539548" cy="246221"/>
            <a:chOff x="586732" y="1617446"/>
            <a:chExt cx="1539548" cy="246221"/>
          </a:xfrm>
        </p:grpSpPr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080E31B7-0ED2-4B70-B3D9-7F4E197ED8B3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1</a:t>
              </a:r>
            </a:p>
          </p:txBody>
        </p:sp>
        <p:pic>
          <p:nvPicPr>
            <p:cNvPr id="1024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56697CB4-D701-E4DB-6FF4-D996BA2FFA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Triángulo isósceles 1024">
              <a:extLst>
                <a:ext uri="{FF2B5EF4-FFF2-40B4-BE49-F238E27FC236}">
                  <a16:creationId xmlns:a16="http://schemas.microsoft.com/office/drawing/2014/main" id="{2001DB7F-8FF9-2849-CE80-4152A415F375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040" name="Grupo 1039">
            <a:extLst>
              <a:ext uri="{FF2B5EF4-FFF2-40B4-BE49-F238E27FC236}">
                <a16:creationId xmlns:a16="http://schemas.microsoft.com/office/drawing/2014/main" id="{2980D6D2-DB8D-4F4F-7C40-ECEFF4968257}"/>
              </a:ext>
            </a:extLst>
          </p:cNvPr>
          <p:cNvGrpSpPr/>
          <p:nvPr/>
        </p:nvGrpSpPr>
        <p:grpSpPr>
          <a:xfrm>
            <a:off x="632909" y="1426510"/>
            <a:ext cx="1539548" cy="246221"/>
            <a:chOff x="586732" y="1617446"/>
            <a:chExt cx="1539548" cy="246221"/>
          </a:xfrm>
        </p:grpSpPr>
        <p:sp>
          <p:nvSpPr>
            <p:cNvPr id="1041" name="CuadroTexto 1040">
              <a:extLst>
                <a:ext uri="{FF2B5EF4-FFF2-40B4-BE49-F238E27FC236}">
                  <a16:creationId xmlns:a16="http://schemas.microsoft.com/office/drawing/2014/main" id="{9A31350E-142C-F0CD-8B20-FB4B1A1393AA}"/>
                </a:ext>
              </a:extLst>
            </p:cNvPr>
            <p:cNvSpPr txBox="1"/>
            <p:nvPr/>
          </p:nvSpPr>
          <p:spPr>
            <a:xfrm>
              <a:off x="846882" y="1617446"/>
              <a:ext cx="12793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latin typeface="Arial" panose="020B0604020202020204" pitchFamily="34" charset="0"/>
                  <a:cs typeface="Arial" panose="020B0604020202020204" pitchFamily="34" charset="0"/>
                </a:rPr>
                <a:t>Data Demo 2</a:t>
              </a:r>
            </a:p>
          </p:txBody>
        </p:sp>
        <p:pic>
          <p:nvPicPr>
            <p:cNvPr id="1042" name="Picture 2" descr="Icono de directorio, Carpetas de archivos, Diseño de icono, Amarillo,  Naranja, Texto, Línea, Área, ángulo, zona, directorio png | PNGWing">
              <a:extLst>
                <a:ext uri="{FF2B5EF4-FFF2-40B4-BE49-F238E27FC236}">
                  <a16:creationId xmlns:a16="http://schemas.microsoft.com/office/drawing/2014/main" id="{85A32B6B-1D34-FBE0-6DE1-B2E6D9C50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42" b="96701" l="10000" r="90000">
                          <a14:foregroundMark x1="17717" y1="6771" x2="17717" y2="6771"/>
                          <a14:foregroundMark x1="24674" y1="1215" x2="24674" y2="1215"/>
                          <a14:foregroundMark x1="23696" y1="15625" x2="30000" y2="76215"/>
                          <a14:foregroundMark x1="81957" y1="21528" x2="74022" y2="38715"/>
                          <a14:foregroundMark x1="74022" y1="38715" x2="41739" y2="72396"/>
                          <a14:foregroundMark x1="41739" y1="72396" x2="18478" y2="78646"/>
                          <a14:foregroundMark x1="18478" y1="78646" x2="18587" y2="19444"/>
                          <a14:foregroundMark x1="32283" y1="23958" x2="76413" y2="87674"/>
                          <a14:foregroundMark x1="78587" y1="77951" x2="73804" y2="52431"/>
                          <a14:foregroundMark x1="73804" y1="52431" x2="61957" y2="24306"/>
                          <a14:foregroundMark x1="61957" y1="24306" x2="58913" y2="20833"/>
                          <a14:foregroundMark x1="69239" y1="15972" x2="82174" y2="65104"/>
                          <a14:foregroundMark x1="82174" y1="65104" x2="82391" y2="68056"/>
                          <a14:foregroundMark x1="82609" y1="73785" x2="85435" y2="18229"/>
                          <a14:foregroundMark x1="55761" y1="22743" x2="42935" y2="51389"/>
                          <a14:foregroundMark x1="14783" y1="93229" x2="56848" y2="93403"/>
                          <a14:foregroundMark x1="56848" y1="93403" x2="81739" y2="90972"/>
                          <a14:foregroundMark x1="81739" y1="90972" x2="12391" y2="86458"/>
                          <a14:foregroundMark x1="12826" y1="86285" x2="14457" y2="94792"/>
                          <a14:foregroundMark x1="14457" y1="94792" x2="28370" y2="967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52" y="1686557"/>
              <a:ext cx="172500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Triángulo isósceles 1042">
              <a:extLst>
                <a:ext uri="{FF2B5EF4-FFF2-40B4-BE49-F238E27FC236}">
                  <a16:creationId xmlns:a16="http://schemas.microsoft.com/office/drawing/2014/main" id="{DE58BEC5-D60B-3A5F-7307-5E8341E3E75F}"/>
                </a:ext>
              </a:extLst>
            </p:cNvPr>
            <p:cNvSpPr/>
            <p:nvPr/>
          </p:nvSpPr>
          <p:spPr>
            <a:xfrm rot="5400000">
              <a:off x="573281" y="1717690"/>
              <a:ext cx="72638" cy="4573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125151F-F011-1E6E-B462-078AE5509B30}"/>
              </a:ext>
            </a:extLst>
          </p:cNvPr>
          <p:cNvSpPr/>
          <p:nvPr/>
        </p:nvSpPr>
        <p:spPr>
          <a:xfrm>
            <a:off x="447040" y="3278701"/>
            <a:ext cx="2001519" cy="392405"/>
          </a:xfrm>
          <a:prstGeom prst="rect">
            <a:avLst/>
          </a:prstGeom>
          <a:solidFill>
            <a:srgbClr val="354A5E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3492063-3814-E340-F803-C438A1B7CB4C}"/>
              </a:ext>
            </a:extLst>
          </p:cNvPr>
          <p:cNvGrpSpPr/>
          <p:nvPr/>
        </p:nvGrpSpPr>
        <p:grpSpPr>
          <a:xfrm>
            <a:off x="596039" y="2491541"/>
            <a:ext cx="1448467" cy="261610"/>
            <a:chOff x="905258" y="1652219"/>
            <a:chExt cx="1448467" cy="26161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E2C6FD6-598D-8D68-DA4E-CCD759270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7676C85E-849D-F1A6-CF4F-195986A0122F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Analysis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D770D1B-8FE7-507B-8802-9AA9D7E6DA13}"/>
              </a:ext>
            </a:extLst>
          </p:cNvPr>
          <p:cNvGrpSpPr/>
          <p:nvPr/>
        </p:nvGrpSpPr>
        <p:grpSpPr>
          <a:xfrm>
            <a:off x="600272" y="2923511"/>
            <a:ext cx="1448467" cy="261610"/>
            <a:chOff x="905258" y="1652219"/>
            <a:chExt cx="1448467" cy="261610"/>
          </a:xfrm>
        </p:grpSpPr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C2BE578A-ECE5-1F7F-D658-E9C8B35C6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13E5DECD-746D-642F-15FA-4E95FC882C07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Visualization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7FBE346A-DDE5-C815-2D07-6DB80FAA4E7B}"/>
              </a:ext>
            </a:extLst>
          </p:cNvPr>
          <p:cNvGrpSpPr/>
          <p:nvPr/>
        </p:nvGrpSpPr>
        <p:grpSpPr>
          <a:xfrm>
            <a:off x="596039" y="3328985"/>
            <a:ext cx="1448467" cy="253916"/>
            <a:chOff x="905258" y="1652219"/>
            <a:chExt cx="1448467" cy="253916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1A4584E6-BB97-4F8B-1E91-674E7A40D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B087402F-AE10-01CB-8B5B-74B18B69D64C}"/>
                </a:ext>
              </a:extLst>
            </p:cNvPr>
            <p:cNvSpPr txBox="1"/>
            <p:nvPr/>
          </p:nvSpPr>
          <p:spPr>
            <a:xfrm>
              <a:off x="1135058" y="1652219"/>
              <a:ext cx="12186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Litogeochemistry</a:t>
              </a:r>
              <a:endParaRPr lang="es-P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4184A0EE-FE7C-7335-F62A-1C1C9834CD02}"/>
              </a:ext>
            </a:extLst>
          </p:cNvPr>
          <p:cNvGrpSpPr/>
          <p:nvPr/>
        </p:nvGrpSpPr>
        <p:grpSpPr>
          <a:xfrm>
            <a:off x="609600" y="3755781"/>
            <a:ext cx="1628567" cy="253916"/>
            <a:chOff x="905258" y="1652219"/>
            <a:chExt cx="1628567" cy="253916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35277F10-B971-BAC0-6C11-A082324A1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r="80227" b="21382"/>
            <a:stretch>
              <a:fillRect/>
            </a:stretch>
          </p:blipFill>
          <p:spPr>
            <a:xfrm>
              <a:off x="905258" y="1659815"/>
              <a:ext cx="187603" cy="21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05E5C125-0B5D-37EA-A088-5B28E1DD0A9D}"/>
                </a:ext>
              </a:extLst>
            </p:cNvPr>
            <p:cNvSpPr txBox="1"/>
            <p:nvPr/>
          </p:nvSpPr>
          <p:spPr>
            <a:xfrm>
              <a:off x="1135058" y="1652219"/>
              <a:ext cx="1398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50" dirty="0">
                  <a:latin typeface="Arial" panose="020B0604020202020204" pitchFamily="34" charset="0"/>
                  <a:cs typeface="Arial" panose="020B0604020202020204" pitchFamily="34" charset="0"/>
                </a:rPr>
                <a:t>Mineral </a:t>
              </a:r>
              <a:r>
                <a:rPr lang="es-PE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Exploration</a:t>
              </a:r>
              <a:endParaRPr lang="es-PE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C97870E8-7874-73B6-7660-0C3D60AB8949}"/>
              </a:ext>
            </a:extLst>
          </p:cNvPr>
          <p:cNvCxnSpPr>
            <a:cxnSpLocks/>
          </p:cNvCxnSpPr>
          <p:nvPr/>
        </p:nvCxnSpPr>
        <p:spPr>
          <a:xfrm flipH="1" flipV="1">
            <a:off x="8751637" y="1334501"/>
            <a:ext cx="693284" cy="2962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102E668-937B-829B-3A81-C457AEB3B1D0}"/>
              </a:ext>
            </a:extLst>
          </p:cNvPr>
          <p:cNvSpPr txBox="1"/>
          <p:nvPr/>
        </p:nvSpPr>
        <p:spPr>
          <a:xfrm>
            <a:off x="5675578" y="858081"/>
            <a:ext cx="3422701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Herramientas de análisis </a:t>
            </a:r>
            <a:r>
              <a:rPr lang="es-PE" sz="1050" dirty="0" err="1">
                <a:solidFill>
                  <a:srgbClr val="FF0000"/>
                </a:solidFill>
              </a:rPr>
              <a:t>litogeoquimico</a:t>
            </a:r>
            <a:endParaRPr lang="es-PE" sz="1050" dirty="0">
              <a:solidFill>
                <a:srgbClr val="FF000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169E9E3-F55C-F3D6-1A26-F14B82EB1C57}"/>
              </a:ext>
            </a:extLst>
          </p:cNvPr>
          <p:cNvSpPr txBox="1"/>
          <p:nvPr/>
        </p:nvSpPr>
        <p:spPr>
          <a:xfrm>
            <a:off x="2494020" y="4005775"/>
            <a:ext cx="1801888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050" dirty="0">
                <a:solidFill>
                  <a:srgbClr val="FF0000"/>
                </a:solidFill>
              </a:rPr>
              <a:t>Módulo: </a:t>
            </a:r>
            <a:r>
              <a:rPr lang="es-PE" sz="1050" dirty="0" err="1">
                <a:solidFill>
                  <a:srgbClr val="FF0000"/>
                </a:solidFill>
              </a:rPr>
              <a:t>Litogeochemistry</a:t>
            </a:r>
            <a:endParaRPr lang="es-PE" sz="1050" dirty="0">
              <a:solidFill>
                <a:srgbClr val="FF0000"/>
              </a:solidFill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181639F6-D027-5E20-AB60-5F2638CAD6EE}"/>
              </a:ext>
            </a:extLst>
          </p:cNvPr>
          <p:cNvCxnSpPr>
            <a:cxnSpLocks/>
          </p:cNvCxnSpPr>
          <p:nvPr/>
        </p:nvCxnSpPr>
        <p:spPr>
          <a:xfrm flipH="1" flipV="1">
            <a:off x="2532892" y="3429000"/>
            <a:ext cx="595802" cy="486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91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F9EA59EE-A6DE-36A6-F95A-205442167406}"/>
              </a:ext>
            </a:extLst>
          </p:cNvPr>
          <p:cNvSpPr/>
          <p:nvPr/>
        </p:nvSpPr>
        <p:spPr>
          <a:xfrm>
            <a:off x="2667000" y="1809750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E912831-A1EA-DB4A-1BF9-22F38C60C694}"/>
              </a:ext>
            </a:extLst>
          </p:cNvPr>
          <p:cNvSpPr/>
          <p:nvPr/>
        </p:nvSpPr>
        <p:spPr>
          <a:xfrm>
            <a:off x="2914650" y="2057400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40CC81D-0C56-4197-AA8F-97B5A1C07D38}"/>
              </a:ext>
            </a:extLst>
          </p:cNvPr>
          <p:cNvSpPr/>
          <p:nvPr/>
        </p:nvSpPr>
        <p:spPr>
          <a:xfrm>
            <a:off x="3192780" y="2335530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CB1D430-3713-79DC-501B-E332BEFC0309}"/>
              </a:ext>
            </a:extLst>
          </p:cNvPr>
          <p:cNvSpPr/>
          <p:nvPr/>
        </p:nvSpPr>
        <p:spPr>
          <a:xfrm>
            <a:off x="3440430" y="2583180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BF334D7-B69B-3E20-4C5C-DCD2707E415E}"/>
              </a:ext>
            </a:extLst>
          </p:cNvPr>
          <p:cNvSpPr/>
          <p:nvPr/>
        </p:nvSpPr>
        <p:spPr>
          <a:xfrm>
            <a:off x="2419350" y="3111296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99F73B7-6ED3-4067-9DF7-A3A9FB5AD307}"/>
              </a:ext>
            </a:extLst>
          </p:cNvPr>
          <p:cNvSpPr/>
          <p:nvPr/>
        </p:nvSpPr>
        <p:spPr>
          <a:xfrm>
            <a:off x="2419350" y="2057400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A5D14CB-D6C8-F13C-45FD-C14AF8661B02}"/>
              </a:ext>
            </a:extLst>
          </p:cNvPr>
          <p:cNvSpPr/>
          <p:nvPr/>
        </p:nvSpPr>
        <p:spPr>
          <a:xfrm>
            <a:off x="2918460" y="2580538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CD302AA-5A2B-0AE8-20EC-2FC80E40A1F3}"/>
              </a:ext>
            </a:extLst>
          </p:cNvPr>
          <p:cNvSpPr/>
          <p:nvPr/>
        </p:nvSpPr>
        <p:spPr>
          <a:xfrm>
            <a:off x="2667000" y="2335530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48C32DD-C04A-C859-7FBE-812DE2924BBB}"/>
              </a:ext>
            </a:extLst>
          </p:cNvPr>
          <p:cNvSpPr/>
          <p:nvPr/>
        </p:nvSpPr>
        <p:spPr>
          <a:xfrm>
            <a:off x="2139315" y="2332888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7A88F3F-7FD0-FA9B-E1D2-D124D5A2168B}"/>
              </a:ext>
            </a:extLst>
          </p:cNvPr>
          <p:cNvSpPr/>
          <p:nvPr/>
        </p:nvSpPr>
        <p:spPr>
          <a:xfrm>
            <a:off x="2667000" y="2847238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BAF0952-1B96-9941-03FE-BD9A320AA7A5}"/>
              </a:ext>
            </a:extLst>
          </p:cNvPr>
          <p:cNvSpPr/>
          <p:nvPr/>
        </p:nvSpPr>
        <p:spPr>
          <a:xfrm>
            <a:off x="2914650" y="3111296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A29CF58-F5A0-9489-87F9-1340F038CBED}"/>
              </a:ext>
            </a:extLst>
          </p:cNvPr>
          <p:cNvSpPr/>
          <p:nvPr/>
        </p:nvSpPr>
        <p:spPr>
          <a:xfrm>
            <a:off x="1891665" y="2599588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65D8ED7-B4D8-C8E6-9AE4-67082D2B41A6}"/>
              </a:ext>
            </a:extLst>
          </p:cNvPr>
          <p:cNvSpPr/>
          <p:nvPr/>
        </p:nvSpPr>
        <p:spPr>
          <a:xfrm>
            <a:off x="2127885" y="2854705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C4C5A27-6580-0F6B-34B1-1ADB049B3273}"/>
              </a:ext>
            </a:extLst>
          </p:cNvPr>
          <p:cNvSpPr/>
          <p:nvPr/>
        </p:nvSpPr>
        <p:spPr>
          <a:xfrm>
            <a:off x="2665095" y="3373727"/>
            <a:ext cx="247650" cy="24765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C491A75-6035-1D32-E9B1-03D360DEACA0}"/>
              </a:ext>
            </a:extLst>
          </p:cNvPr>
          <p:cNvCxnSpPr>
            <a:stCxn id="14" idx="7"/>
            <a:endCxn id="7" idx="3"/>
          </p:cNvCxnSpPr>
          <p:nvPr/>
        </p:nvCxnSpPr>
        <p:spPr>
          <a:xfrm flipV="1">
            <a:off x="3126032" y="2794562"/>
            <a:ext cx="350666" cy="353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E316F25-6D31-AC76-054C-4F82D40F21BB}"/>
              </a:ext>
            </a:extLst>
          </p:cNvPr>
          <p:cNvCxnSpPr>
            <a:cxnSpLocks/>
          </p:cNvCxnSpPr>
          <p:nvPr/>
        </p:nvCxnSpPr>
        <p:spPr>
          <a:xfrm flipV="1">
            <a:off x="2625018" y="3058225"/>
            <a:ext cx="96165" cy="968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478AD1D-39EF-3F13-47E5-5A9514D769B0}"/>
              </a:ext>
            </a:extLst>
          </p:cNvPr>
          <p:cNvCxnSpPr>
            <a:cxnSpLocks/>
            <a:stCxn id="13" idx="5"/>
            <a:endCxn id="14" idx="1"/>
          </p:cNvCxnSpPr>
          <p:nvPr/>
        </p:nvCxnSpPr>
        <p:spPr>
          <a:xfrm>
            <a:off x="2878382" y="3058620"/>
            <a:ext cx="72536" cy="889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575A28D9-F068-2DD4-74AD-71A2FFCEB07C}"/>
              </a:ext>
            </a:extLst>
          </p:cNvPr>
          <p:cNvCxnSpPr>
            <a:cxnSpLocks/>
            <a:stCxn id="12" idx="5"/>
            <a:endCxn id="13" idx="1"/>
          </p:cNvCxnSpPr>
          <p:nvPr/>
        </p:nvCxnSpPr>
        <p:spPr>
          <a:xfrm>
            <a:off x="2350697" y="2544270"/>
            <a:ext cx="352571" cy="339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6BDD7B6-599D-EC3B-D00E-F68A4A28FEA7}"/>
              </a:ext>
            </a:extLst>
          </p:cNvPr>
          <p:cNvCxnSpPr>
            <a:cxnSpLocks/>
          </p:cNvCxnSpPr>
          <p:nvPr/>
        </p:nvCxnSpPr>
        <p:spPr>
          <a:xfrm flipV="1">
            <a:off x="2543638" y="2552700"/>
            <a:ext cx="157725" cy="1587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638499A6-D17C-BF12-4CE7-687FC54CBB8C}"/>
              </a:ext>
            </a:extLst>
          </p:cNvPr>
          <p:cNvCxnSpPr/>
          <p:nvPr/>
        </p:nvCxnSpPr>
        <p:spPr>
          <a:xfrm>
            <a:off x="4305300" y="1933575"/>
            <a:ext cx="0" cy="1617345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B1909CD-91E7-41A4-1BF2-7F74A291B177}"/>
              </a:ext>
            </a:extLst>
          </p:cNvPr>
          <p:cNvSpPr txBox="1"/>
          <p:nvPr/>
        </p:nvSpPr>
        <p:spPr>
          <a:xfrm>
            <a:off x="4619698" y="1907805"/>
            <a:ext cx="65039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0" b="1" spc="600" dirty="0">
                <a:solidFill>
                  <a:schemeClr val="tx2"/>
                </a:solidFill>
                <a:latin typeface="Aptos Black" panose="020B0004020202020204" pitchFamily="34" charset="0"/>
              </a:rPr>
              <a:t>PyOreX</a:t>
            </a:r>
          </a:p>
        </p:txBody>
      </p:sp>
    </p:spTree>
    <p:extLst>
      <p:ext uri="{BB962C8B-B14F-4D97-AF65-F5344CB8AC3E}">
        <p14:creationId xmlns:p14="http://schemas.microsoft.com/office/powerpoint/2010/main" val="3380389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1135-9380-BF04-FFC8-9A13ECD8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D11D445C-8FE3-4AEC-6050-04E234B4D1B1}"/>
              </a:ext>
            </a:extLst>
          </p:cNvPr>
          <p:cNvSpPr/>
          <p:nvPr/>
        </p:nvSpPr>
        <p:spPr>
          <a:xfrm>
            <a:off x="2667000" y="1809750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6F027E9-E6E8-ACC7-A0B6-94FFB4E8530D}"/>
              </a:ext>
            </a:extLst>
          </p:cNvPr>
          <p:cNvSpPr/>
          <p:nvPr/>
        </p:nvSpPr>
        <p:spPr>
          <a:xfrm>
            <a:off x="2914650" y="2057400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4BED01D-9C5D-6B23-690F-3DEBAA6317FB}"/>
              </a:ext>
            </a:extLst>
          </p:cNvPr>
          <p:cNvSpPr/>
          <p:nvPr/>
        </p:nvSpPr>
        <p:spPr>
          <a:xfrm>
            <a:off x="3192780" y="2335530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E5ABA67-B86C-0AC4-A7D9-02AE9004A395}"/>
              </a:ext>
            </a:extLst>
          </p:cNvPr>
          <p:cNvSpPr/>
          <p:nvPr/>
        </p:nvSpPr>
        <p:spPr>
          <a:xfrm>
            <a:off x="3440430" y="2583180"/>
            <a:ext cx="247650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B3F883B-D8F1-D66D-0302-B5FA5BBD89E2}"/>
              </a:ext>
            </a:extLst>
          </p:cNvPr>
          <p:cNvSpPr/>
          <p:nvPr/>
        </p:nvSpPr>
        <p:spPr>
          <a:xfrm>
            <a:off x="2419350" y="3111296"/>
            <a:ext cx="247650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9A3E1B8-83DB-1495-7240-E78748B064B6}"/>
              </a:ext>
            </a:extLst>
          </p:cNvPr>
          <p:cNvSpPr/>
          <p:nvPr/>
        </p:nvSpPr>
        <p:spPr>
          <a:xfrm>
            <a:off x="2419350" y="2057400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02FFC08-E735-70AC-7AE2-3239A68FF36E}"/>
              </a:ext>
            </a:extLst>
          </p:cNvPr>
          <p:cNvSpPr/>
          <p:nvPr/>
        </p:nvSpPr>
        <p:spPr>
          <a:xfrm>
            <a:off x="2918460" y="2580538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1BF7D14-BA81-2438-44E9-5FB58D8870AD}"/>
              </a:ext>
            </a:extLst>
          </p:cNvPr>
          <p:cNvSpPr/>
          <p:nvPr/>
        </p:nvSpPr>
        <p:spPr>
          <a:xfrm>
            <a:off x="2667000" y="2335530"/>
            <a:ext cx="247650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97201B5-4374-4CEF-40E4-2549C6EE267C}"/>
              </a:ext>
            </a:extLst>
          </p:cNvPr>
          <p:cNvSpPr/>
          <p:nvPr/>
        </p:nvSpPr>
        <p:spPr>
          <a:xfrm>
            <a:off x="2139315" y="2332888"/>
            <a:ext cx="247650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217DD30-E864-2FA1-332D-040E0F9AA851}"/>
              </a:ext>
            </a:extLst>
          </p:cNvPr>
          <p:cNvSpPr/>
          <p:nvPr/>
        </p:nvSpPr>
        <p:spPr>
          <a:xfrm>
            <a:off x="2667000" y="2847238"/>
            <a:ext cx="247650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253B6FD-497B-0EBA-102E-BCC8D7C0C57B}"/>
              </a:ext>
            </a:extLst>
          </p:cNvPr>
          <p:cNvSpPr/>
          <p:nvPr/>
        </p:nvSpPr>
        <p:spPr>
          <a:xfrm>
            <a:off x="2914650" y="3111296"/>
            <a:ext cx="247650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8060F43-360D-48E3-0190-58D2329343B8}"/>
              </a:ext>
            </a:extLst>
          </p:cNvPr>
          <p:cNvSpPr/>
          <p:nvPr/>
        </p:nvSpPr>
        <p:spPr>
          <a:xfrm>
            <a:off x="1891665" y="2599588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69A2A6D-7102-A0F0-7C31-36412A548BB6}"/>
              </a:ext>
            </a:extLst>
          </p:cNvPr>
          <p:cNvSpPr/>
          <p:nvPr/>
        </p:nvSpPr>
        <p:spPr>
          <a:xfrm>
            <a:off x="2127885" y="2854705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6EA457E-F65A-07DA-D47C-6A2ABD6AAFFB}"/>
              </a:ext>
            </a:extLst>
          </p:cNvPr>
          <p:cNvSpPr/>
          <p:nvPr/>
        </p:nvSpPr>
        <p:spPr>
          <a:xfrm>
            <a:off x="2665095" y="3373727"/>
            <a:ext cx="247650" cy="2476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211B40C-229E-E93D-6289-750B335C068C}"/>
              </a:ext>
            </a:extLst>
          </p:cNvPr>
          <p:cNvCxnSpPr>
            <a:stCxn id="14" idx="7"/>
            <a:endCxn id="7" idx="3"/>
          </p:cNvCxnSpPr>
          <p:nvPr/>
        </p:nvCxnSpPr>
        <p:spPr>
          <a:xfrm flipV="1">
            <a:off x="3126032" y="2794562"/>
            <a:ext cx="350666" cy="3530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21DAFD7-1281-38AA-C4D2-33325AE4588E}"/>
              </a:ext>
            </a:extLst>
          </p:cNvPr>
          <p:cNvCxnSpPr>
            <a:cxnSpLocks/>
          </p:cNvCxnSpPr>
          <p:nvPr/>
        </p:nvCxnSpPr>
        <p:spPr>
          <a:xfrm flipV="1">
            <a:off x="2625018" y="3058225"/>
            <a:ext cx="96165" cy="968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9EC080E-E720-1E12-5C62-C82466AAA35A}"/>
              </a:ext>
            </a:extLst>
          </p:cNvPr>
          <p:cNvCxnSpPr>
            <a:cxnSpLocks/>
            <a:stCxn id="13" idx="5"/>
            <a:endCxn id="14" idx="1"/>
          </p:cNvCxnSpPr>
          <p:nvPr/>
        </p:nvCxnSpPr>
        <p:spPr>
          <a:xfrm>
            <a:off x="2878382" y="3058620"/>
            <a:ext cx="72536" cy="889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ED82707-BD16-FC1C-6AD1-FDF484E6D432}"/>
              </a:ext>
            </a:extLst>
          </p:cNvPr>
          <p:cNvCxnSpPr>
            <a:cxnSpLocks/>
            <a:stCxn id="12" idx="5"/>
            <a:endCxn id="13" idx="1"/>
          </p:cNvCxnSpPr>
          <p:nvPr/>
        </p:nvCxnSpPr>
        <p:spPr>
          <a:xfrm>
            <a:off x="2350697" y="2544270"/>
            <a:ext cx="352571" cy="339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18AB8B6-F58E-566C-AC2E-2113E1BE6B4E}"/>
              </a:ext>
            </a:extLst>
          </p:cNvPr>
          <p:cNvCxnSpPr>
            <a:cxnSpLocks/>
          </p:cNvCxnSpPr>
          <p:nvPr/>
        </p:nvCxnSpPr>
        <p:spPr>
          <a:xfrm flipV="1">
            <a:off x="2543638" y="2552700"/>
            <a:ext cx="157725" cy="1587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DC8FC5EC-CEC8-1A71-2CDE-ACCDED4884EC}"/>
              </a:ext>
            </a:extLst>
          </p:cNvPr>
          <p:cNvCxnSpPr/>
          <p:nvPr/>
        </p:nvCxnSpPr>
        <p:spPr>
          <a:xfrm>
            <a:off x="4305300" y="1933575"/>
            <a:ext cx="0" cy="1617345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8110927-082F-DD74-80CF-2E983B047C87}"/>
              </a:ext>
            </a:extLst>
          </p:cNvPr>
          <p:cNvSpPr txBox="1"/>
          <p:nvPr/>
        </p:nvSpPr>
        <p:spPr>
          <a:xfrm>
            <a:off x="4619698" y="1907805"/>
            <a:ext cx="65039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0" b="1" spc="600" dirty="0">
                <a:latin typeface="Aptos Black" panose="020B0004020202020204" pitchFamily="34" charset="0"/>
              </a:rPr>
              <a:t>PyOreX</a:t>
            </a:r>
          </a:p>
        </p:txBody>
      </p:sp>
    </p:spTree>
    <p:extLst>
      <p:ext uri="{BB962C8B-B14F-4D97-AF65-F5344CB8AC3E}">
        <p14:creationId xmlns:p14="http://schemas.microsoft.com/office/powerpoint/2010/main" val="8885933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2256</TotalTime>
  <Words>371</Words>
  <Application>Microsoft Office PowerPoint</Application>
  <PresentationFormat>Panorámica</PresentationFormat>
  <Paragraphs>166</Paragraphs>
  <Slides>10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Black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Jarry Castillo Requiz</dc:creator>
  <cp:lastModifiedBy>Cristian Eugenio Tarazona Silva</cp:lastModifiedBy>
  <cp:revision>29</cp:revision>
  <dcterms:created xsi:type="dcterms:W3CDTF">2025-05-01T00:07:08Z</dcterms:created>
  <dcterms:modified xsi:type="dcterms:W3CDTF">2026-06-03T04:26:29Z</dcterms:modified>
</cp:coreProperties>
</file>